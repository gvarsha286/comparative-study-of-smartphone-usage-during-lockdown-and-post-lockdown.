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9" r:id="rId1"/>
  </p:sldMasterIdLst>
  <p:notesMasterIdLst>
    <p:notesMasterId r:id="rId16"/>
  </p:notesMasterIdLst>
  <p:sldIdLst>
    <p:sldId id="256" r:id="rId2"/>
    <p:sldId id="257" r:id="rId3"/>
    <p:sldId id="258" r:id="rId4"/>
    <p:sldId id="259" r:id="rId5"/>
    <p:sldId id="260" r:id="rId6"/>
    <p:sldId id="261" r:id="rId7"/>
    <p:sldId id="273" r:id="rId8"/>
    <p:sldId id="274" r:id="rId9"/>
    <p:sldId id="272" r:id="rId10"/>
    <p:sldId id="267" r:id="rId11"/>
    <p:sldId id="268" r:id="rId12"/>
    <p:sldId id="269" r:id="rId13"/>
    <p:sldId id="270" r:id="rId14"/>
    <p:sldId id="27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rsha Gupta" initials="VG" lastIdx="1" clrIdx="0">
    <p:extLst>
      <p:ext uri="{19B8F6BF-5375-455C-9EA6-DF929625EA0E}">
        <p15:presenceInfo xmlns:p15="http://schemas.microsoft.com/office/powerpoint/2012/main" userId="3150ff5080637c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F2DD"/>
    <a:srgbClr val="FEFE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2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Varsha%20&amp;%20Sapna\Documents\Survey%20on%20smartphone%20usage%20during%20Lockdown%20and%20Post-lockdown%20(Responses)with%20graph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Varsha%20&amp;%20Sapna\Documents\Survey%20on%20smartphone%20usage%20during%20Lockdown%20and%20Post-lockdown%20(Responses)with%20graph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Varsha%20&amp;%20Sapna\Documents\Survey%20on%20smartphone%20usage%20during%20Lockdown%20and%20Post-lockdown%20(Responses)with%20graph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Varsha%20&amp;%20Sapna\Documents\Survey%20on%20smartphone%20usage%20during%20Lockdown%20and%20Post-lockdown%20(Responses)with%20graphs.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1" i="0" u="none" strike="noStrike" kern="1200" spc="0" baseline="0">
                <a:solidFill>
                  <a:schemeClr val="tx1">
                    <a:lumMod val="65000"/>
                    <a:lumOff val="35000"/>
                  </a:schemeClr>
                </a:solidFill>
                <a:latin typeface="+mn-lt"/>
                <a:ea typeface="+mn-ea"/>
                <a:cs typeface="+mn-cs"/>
              </a:defRPr>
            </a:pPr>
            <a:r>
              <a:rPr lang="en-IN" sz="1500" b="1" i="0" baseline="0" dirty="0"/>
              <a:t>NUMBER OF HOURS SPENT ON MOBILE PHONE</a:t>
            </a:r>
          </a:p>
        </c:rich>
      </c:tx>
      <c:overlay val="0"/>
      <c:spPr>
        <a:noFill/>
        <a:ln>
          <a:noFill/>
        </a:ln>
        <a:effectLst/>
      </c:spPr>
      <c:txPr>
        <a:bodyPr rot="0" spcFirstLastPara="1" vertOverflow="ellipsis" vert="horz" wrap="square" anchor="ctr" anchorCtr="1"/>
        <a:lstStyle/>
        <a:p>
          <a:pPr>
            <a:defRPr sz="15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6.7890197718780118E-2"/>
          <c:y val="9.4015787258531394E-2"/>
          <c:w val="0.90016316502414595"/>
          <c:h val="0.74087348965165201"/>
        </c:manualLayout>
      </c:layout>
      <c:barChart>
        <c:barDir val="col"/>
        <c:grouping val="clustered"/>
        <c:varyColors val="0"/>
        <c:ser>
          <c:idx val="0"/>
          <c:order val="0"/>
          <c:tx>
            <c:strRef>
              <c:f>Sheet2!$B$72</c:f>
              <c:strCache>
                <c:ptCount val="1"/>
                <c:pt idx="0">
                  <c:v>lockdown </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Sheet2!$A$73:$A$80</c:f>
              <c:strCache>
                <c:ptCount val="8"/>
                <c:pt idx="0">
                  <c:v>0-2</c:v>
                </c:pt>
                <c:pt idx="1">
                  <c:v>2-4</c:v>
                </c:pt>
                <c:pt idx="2">
                  <c:v>4-6</c:v>
                </c:pt>
                <c:pt idx="3">
                  <c:v>6-8</c:v>
                </c:pt>
                <c:pt idx="4">
                  <c:v>8-10</c:v>
                </c:pt>
                <c:pt idx="5">
                  <c:v>10-12</c:v>
                </c:pt>
                <c:pt idx="6">
                  <c:v>12-14</c:v>
                </c:pt>
                <c:pt idx="7">
                  <c:v>14-16</c:v>
                </c:pt>
              </c:strCache>
            </c:strRef>
          </c:cat>
          <c:val>
            <c:numRef>
              <c:f>Sheet2!$B$73:$B$80</c:f>
              <c:numCache>
                <c:formatCode>0%</c:formatCode>
                <c:ptCount val="8"/>
                <c:pt idx="0">
                  <c:v>0.08</c:v>
                </c:pt>
                <c:pt idx="1">
                  <c:v>0.13</c:v>
                </c:pt>
                <c:pt idx="2">
                  <c:v>0.25</c:v>
                </c:pt>
                <c:pt idx="3">
                  <c:v>0.24</c:v>
                </c:pt>
                <c:pt idx="4">
                  <c:v>0.14000000000000001</c:v>
                </c:pt>
                <c:pt idx="5">
                  <c:v>0.1</c:v>
                </c:pt>
                <c:pt idx="6">
                  <c:v>0.04</c:v>
                </c:pt>
                <c:pt idx="7">
                  <c:v>0.02</c:v>
                </c:pt>
              </c:numCache>
            </c:numRef>
          </c:val>
          <c:extLst>
            <c:ext xmlns:c16="http://schemas.microsoft.com/office/drawing/2014/chart" uri="{C3380CC4-5D6E-409C-BE32-E72D297353CC}">
              <c16:uniqueId val="{00000000-2E8A-4B7A-89ED-354C9A6497AD}"/>
            </c:ext>
          </c:extLst>
        </c:ser>
        <c:ser>
          <c:idx val="1"/>
          <c:order val="1"/>
          <c:tx>
            <c:strRef>
              <c:f>Sheet2!$C$72</c:f>
              <c:strCache>
                <c:ptCount val="1"/>
                <c:pt idx="0">
                  <c:v>post-lockdown</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Sheet2!$A$73:$A$80</c:f>
              <c:strCache>
                <c:ptCount val="8"/>
                <c:pt idx="0">
                  <c:v>0-2</c:v>
                </c:pt>
                <c:pt idx="1">
                  <c:v>2-4</c:v>
                </c:pt>
                <c:pt idx="2">
                  <c:v>4-6</c:v>
                </c:pt>
                <c:pt idx="3">
                  <c:v>6-8</c:v>
                </c:pt>
                <c:pt idx="4">
                  <c:v>8-10</c:v>
                </c:pt>
                <c:pt idx="5">
                  <c:v>10-12</c:v>
                </c:pt>
                <c:pt idx="6">
                  <c:v>12-14</c:v>
                </c:pt>
                <c:pt idx="7">
                  <c:v>14-16</c:v>
                </c:pt>
              </c:strCache>
            </c:strRef>
          </c:cat>
          <c:val>
            <c:numRef>
              <c:f>Sheet2!$C$73:$C$80</c:f>
              <c:numCache>
                <c:formatCode>0%</c:formatCode>
                <c:ptCount val="8"/>
                <c:pt idx="0">
                  <c:v>0.21</c:v>
                </c:pt>
                <c:pt idx="1">
                  <c:v>0.34</c:v>
                </c:pt>
                <c:pt idx="2">
                  <c:v>0.25</c:v>
                </c:pt>
                <c:pt idx="3">
                  <c:v>0.13</c:v>
                </c:pt>
                <c:pt idx="4">
                  <c:v>0.01</c:v>
                </c:pt>
                <c:pt idx="5">
                  <c:v>0.05</c:v>
                </c:pt>
                <c:pt idx="6">
                  <c:v>0.01</c:v>
                </c:pt>
                <c:pt idx="7">
                  <c:v>0</c:v>
                </c:pt>
              </c:numCache>
            </c:numRef>
          </c:val>
          <c:extLst>
            <c:ext xmlns:c16="http://schemas.microsoft.com/office/drawing/2014/chart" uri="{C3380CC4-5D6E-409C-BE32-E72D297353CC}">
              <c16:uniqueId val="{00000001-2E8A-4B7A-89ED-354C9A6497AD}"/>
            </c:ext>
          </c:extLst>
        </c:ser>
        <c:dLbls>
          <c:showLegendKey val="0"/>
          <c:showVal val="1"/>
          <c:showCatName val="0"/>
          <c:showSerName val="0"/>
          <c:showPercent val="0"/>
          <c:showBubbleSize val="0"/>
        </c:dLbls>
        <c:gapWidth val="75"/>
        <c:axId val="1393208960"/>
        <c:axId val="1393208128"/>
      </c:barChart>
      <c:catAx>
        <c:axId val="1393208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393208128"/>
        <c:crosses val="autoZero"/>
        <c:auto val="1"/>
        <c:lblAlgn val="ctr"/>
        <c:lblOffset val="100"/>
        <c:noMultiLvlLbl val="0"/>
      </c:catAx>
      <c:valAx>
        <c:axId val="139320812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3932089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500" b="1" i="0" u="none" strike="noStrike" kern="1200" spc="0" baseline="0">
                <a:solidFill>
                  <a:schemeClr val="tx1">
                    <a:lumMod val="65000"/>
                    <a:lumOff val="35000"/>
                  </a:schemeClr>
                </a:solidFill>
                <a:latin typeface="+mn-lt"/>
                <a:ea typeface="+mn-ea"/>
                <a:cs typeface="+mn-cs"/>
              </a:defRPr>
            </a:pPr>
            <a:r>
              <a:rPr lang="en-IN" sz="1500" b="1" i="0" baseline="0"/>
              <a:t>SELF STUDY HOURS</a:t>
            </a:r>
          </a:p>
        </c:rich>
      </c:tx>
      <c:overlay val="0"/>
      <c:spPr>
        <a:noFill/>
        <a:ln>
          <a:noFill/>
        </a:ln>
        <a:effectLst/>
      </c:spPr>
      <c:txPr>
        <a:bodyPr rot="0" spcFirstLastPara="1" vertOverflow="ellipsis" vert="horz" wrap="square" anchor="ctr" anchorCtr="1"/>
        <a:lstStyle/>
        <a:p>
          <a:pPr>
            <a:defRPr sz="15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2400998215623985E-2"/>
          <c:y val="0.14935759689992176"/>
          <c:w val="0.90249807251096081"/>
          <c:h val="0.71341522722981598"/>
        </c:manualLayout>
      </c:layout>
      <c:barChart>
        <c:barDir val="col"/>
        <c:grouping val="clustered"/>
        <c:varyColors val="0"/>
        <c:ser>
          <c:idx val="0"/>
          <c:order val="0"/>
          <c:tx>
            <c:strRef>
              <c:f>Sheet2!$K$71</c:f>
              <c:strCache>
                <c:ptCount val="1"/>
                <c:pt idx="0">
                  <c:v>lockdown </c:v>
                </c:pt>
              </c:strCache>
            </c:strRef>
          </c:tx>
          <c:spPr>
            <a:solidFill>
              <a:schemeClr val="accent6">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Sheet2!$J$72:$J$76</c:f>
              <c:strCache>
                <c:ptCount val="5"/>
                <c:pt idx="0">
                  <c:v>2-</c:v>
                </c:pt>
                <c:pt idx="1">
                  <c:v>4-</c:v>
                </c:pt>
                <c:pt idx="2">
                  <c:v>6-</c:v>
                </c:pt>
                <c:pt idx="3">
                  <c:v>8-</c:v>
                </c:pt>
                <c:pt idx="4">
                  <c:v>10-</c:v>
                </c:pt>
              </c:strCache>
            </c:strRef>
          </c:cat>
          <c:val>
            <c:numRef>
              <c:f>Sheet2!$K$72:$K$76</c:f>
              <c:numCache>
                <c:formatCode>0%</c:formatCode>
                <c:ptCount val="5"/>
                <c:pt idx="0">
                  <c:v>0.54</c:v>
                </c:pt>
                <c:pt idx="1">
                  <c:v>0.3</c:v>
                </c:pt>
                <c:pt idx="2">
                  <c:v>0.11</c:v>
                </c:pt>
                <c:pt idx="3">
                  <c:v>0.02</c:v>
                </c:pt>
                <c:pt idx="4">
                  <c:v>0.03</c:v>
                </c:pt>
              </c:numCache>
            </c:numRef>
          </c:val>
          <c:extLst>
            <c:ext xmlns:c16="http://schemas.microsoft.com/office/drawing/2014/chart" uri="{C3380CC4-5D6E-409C-BE32-E72D297353CC}">
              <c16:uniqueId val="{00000000-0A9A-42E1-858C-8078ACC12DEC}"/>
            </c:ext>
          </c:extLst>
        </c:ser>
        <c:ser>
          <c:idx val="1"/>
          <c:order val="1"/>
          <c:tx>
            <c:strRef>
              <c:f>Sheet2!$L$71</c:f>
              <c:strCache>
                <c:ptCount val="1"/>
                <c:pt idx="0">
                  <c:v>post-lockdown</c:v>
                </c:pt>
              </c:strCache>
            </c:strRef>
          </c:tx>
          <c:spPr>
            <a:solidFill>
              <a:schemeClr val="accent6">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Sheet2!$J$72:$J$76</c:f>
              <c:strCache>
                <c:ptCount val="5"/>
                <c:pt idx="0">
                  <c:v>2-</c:v>
                </c:pt>
                <c:pt idx="1">
                  <c:v>4-</c:v>
                </c:pt>
                <c:pt idx="2">
                  <c:v>6-</c:v>
                </c:pt>
                <c:pt idx="3">
                  <c:v>8-</c:v>
                </c:pt>
                <c:pt idx="4">
                  <c:v>10-</c:v>
                </c:pt>
              </c:strCache>
            </c:strRef>
          </c:cat>
          <c:val>
            <c:numRef>
              <c:f>Sheet2!$L$72:$L$76</c:f>
              <c:numCache>
                <c:formatCode>0%</c:formatCode>
                <c:ptCount val="5"/>
                <c:pt idx="0">
                  <c:v>0.47</c:v>
                </c:pt>
                <c:pt idx="1">
                  <c:v>0.34</c:v>
                </c:pt>
                <c:pt idx="2">
                  <c:v>0.14000000000000001</c:v>
                </c:pt>
                <c:pt idx="3">
                  <c:v>0.03</c:v>
                </c:pt>
                <c:pt idx="4">
                  <c:v>0.02</c:v>
                </c:pt>
              </c:numCache>
            </c:numRef>
          </c:val>
          <c:extLst>
            <c:ext xmlns:c16="http://schemas.microsoft.com/office/drawing/2014/chart" uri="{C3380CC4-5D6E-409C-BE32-E72D297353CC}">
              <c16:uniqueId val="{00000001-0A9A-42E1-858C-8078ACC12DEC}"/>
            </c:ext>
          </c:extLst>
        </c:ser>
        <c:dLbls>
          <c:showLegendKey val="0"/>
          <c:showVal val="1"/>
          <c:showCatName val="0"/>
          <c:showSerName val="0"/>
          <c:showPercent val="0"/>
          <c:showBubbleSize val="0"/>
        </c:dLbls>
        <c:gapWidth val="75"/>
        <c:axId val="279809552"/>
        <c:axId val="279819536"/>
      </c:barChart>
      <c:catAx>
        <c:axId val="279809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79819536"/>
        <c:crosses val="autoZero"/>
        <c:auto val="1"/>
        <c:lblAlgn val="ctr"/>
        <c:lblOffset val="100"/>
        <c:noMultiLvlLbl val="0"/>
      </c:catAx>
      <c:valAx>
        <c:axId val="279819536"/>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798095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1" i="0" u="none" strike="noStrike" kern="1200" spc="0" baseline="0">
                <a:solidFill>
                  <a:schemeClr val="tx1">
                    <a:lumMod val="65000"/>
                    <a:lumOff val="35000"/>
                  </a:schemeClr>
                </a:solidFill>
                <a:latin typeface="+mn-lt"/>
                <a:ea typeface="+mn-ea"/>
                <a:cs typeface="+mn-cs"/>
              </a:defRPr>
            </a:pPr>
            <a:r>
              <a:rPr lang="en-IN" sz="1500" b="1" i="0" baseline="0" dirty="0"/>
              <a:t>NUMBER OF HOURS SPENT IN LECTURES</a:t>
            </a:r>
          </a:p>
        </c:rich>
      </c:tx>
      <c:overlay val="0"/>
      <c:spPr>
        <a:noFill/>
        <a:ln>
          <a:noFill/>
        </a:ln>
        <a:effectLst/>
      </c:spPr>
      <c:txPr>
        <a:bodyPr rot="0" spcFirstLastPara="1" vertOverflow="ellipsis" vert="horz" wrap="square" anchor="ctr" anchorCtr="1"/>
        <a:lstStyle/>
        <a:p>
          <a:pPr>
            <a:defRPr sz="15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Sheet2!$B$86</c:f>
              <c:strCache>
                <c:ptCount val="1"/>
                <c:pt idx="0">
                  <c:v>online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Sheet2!$A$87:$A$89</c:f>
              <c:strCache>
                <c:ptCount val="3"/>
                <c:pt idx="0">
                  <c:v>2-4</c:v>
                </c:pt>
                <c:pt idx="1">
                  <c:v>4-6</c:v>
                </c:pt>
                <c:pt idx="2">
                  <c:v>6-8</c:v>
                </c:pt>
              </c:strCache>
            </c:strRef>
          </c:cat>
          <c:val>
            <c:numRef>
              <c:f>Sheet2!$B$87:$B$89</c:f>
              <c:numCache>
                <c:formatCode>0%</c:formatCode>
                <c:ptCount val="3"/>
                <c:pt idx="0">
                  <c:v>0.39</c:v>
                </c:pt>
                <c:pt idx="1">
                  <c:v>0.37</c:v>
                </c:pt>
                <c:pt idx="2">
                  <c:v>0.24</c:v>
                </c:pt>
              </c:numCache>
            </c:numRef>
          </c:val>
          <c:extLst>
            <c:ext xmlns:c16="http://schemas.microsoft.com/office/drawing/2014/chart" uri="{C3380CC4-5D6E-409C-BE32-E72D297353CC}">
              <c16:uniqueId val="{00000000-F931-4C9B-8345-26AFC8BF8DA4}"/>
            </c:ext>
          </c:extLst>
        </c:ser>
        <c:ser>
          <c:idx val="1"/>
          <c:order val="1"/>
          <c:tx>
            <c:strRef>
              <c:f>Sheet2!$C$86</c:f>
              <c:strCache>
                <c:ptCount val="1"/>
                <c:pt idx="0">
                  <c:v>offline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Sheet2!$A$87:$A$89</c:f>
              <c:strCache>
                <c:ptCount val="3"/>
                <c:pt idx="0">
                  <c:v>2-4</c:v>
                </c:pt>
                <c:pt idx="1">
                  <c:v>4-6</c:v>
                </c:pt>
                <c:pt idx="2">
                  <c:v>6-8</c:v>
                </c:pt>
              </c:strCache>
            </c:strRef>
          </c:cat>
          <c:val>
            <c:numRef>
              <c:f>Sheet2!$C$87:$C$89</c:f>
              <c:numCache>
                <c:formatCode>0%</c:formatCode>
                <c:ptCount val="3"/>
                <c:pt idx="0">
                  <c:v>0.42</c:v>
                </c:pt>
                <c:pt idx="1">
                  <c:v>0.34</c:v>
                </c:pt>
                <c:pt idx="2">
                  <c:v>0.24</c:v>
                </c:pt>
              </c:numCache>
            </c:numRef>
          </c:val>
          <c:extLst>
            <c:ext xmlns:c16="http://schemas.microsoft.com/office/drawing/2014/chart" uri="{C3380CC4-5D6E-409C-BE32-E72D297353CC}">
              <c16:uniqueId val="{00000001-F931-4C9B-8345-26AFC8BF8DA4}"/>
            </c:ext>
          </c:extLst>
        </c:ser>
        <c:dLbls>
          <c:showLegendKey val="0"/>
          <c:showVal val="1"/>
          <c:showCatName val="0"/>
          <c:showSerName val="0"/>
          <c:showPercent val="0"/>
          <c:showBubbleSize val="0"/>
        </c:dLbls>
        <c:gapWidth val="75"/>
        <c:axId val="1777336896"/>
        <c:axId val="1777347296"/>
      </c:barChart>
      <c:catAx>
        <c:axId val="1777336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777347296"/>
        <c:crosses val="autoZero"/>
        <c:auto val="1"/>
        <c:lblAlgn val="ctr"/>
        <c:lblOffset val="100"/>
        <c:noMultiLvlLbl val="0"/>
      </c:catAx>
      <c:valAx>
        <c:axId val="1777347296"/>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777336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500" b="1" i="0" u="none" strike="noStrike" kern="1200" spc="0" baseline="0">
                <a:solidFill>
                  <a:schemeClr val="tx1">
                    <a:lumMod val="65000"/>
                    <a:lumOff val="35000"/>
                  </a:schemeClr>
                </a:solidFill>
                <a:latin typeface="+mn-lt"/>
                <a:ea typeface="+mn-ea"/>
                <a:cs typeface="+mn-cs"/>
              </a:defRPr>
            </a:pPr>
            <a:r>
              <a:rPr lang="en-IN" sz="1500" b="1" i="0" baseline="0"/>
              <a:t>RATINGS</a:t>
            </a:r>
          </a:p>
        </c:rich>
      </c:tx>
      <c:overlay val="0"/>
      <c:spPr>
        <a:noFill/>
        <a:ln>
          <a:noFill/>
        </a:ln>
        <a:effectLst/>
      </c:spPr>
      <c:txPr>
        <a:bodyPr rot="0" spcFirstLastPara="1" vertOverflow="ellipsis" vert="horz" wrap="square" anchor="ctr" anchorCtr="1"/>
        <a:lstStyle/>
        <a:p>
          <a:pPr>
            <a:defRPr sz="15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8134295713035868E-2"/>
          <c:y val="0.1674307378244386"/>
          <c:w val="0.88131014873140856"/>
          <c:h val="0.61655402449693786"/>
        </c:manualLayout>
      </c:layout>
      <c:barChart>
        <c:barDir val="col"/>
        <c:grouping val="clustered"/>
        <c:varyColors val="0"/>
        <c:ser>
          <c:idx val="1"/>
          <c:order val="1"/>
          <c:tx>
            <c:strRef>
              <c:f>Sheet2!$K$84</c:f>
              <c:strCache>
                <c:ptCount val="1"/>
                <c:pt idx="0">
                  <c:v>online lectures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Sheet2!$K$85:$K$89</c:f>
              <c:numCache>
                <c:formatCode>0%</c:formatCode>
                <c:ptCount val="5"/>
                <c:pt idx="0">
                  <c:v>0.26</c:v>
                </c:pt>
                <c:pt idx="1">
                  <c:v>0.18</c:v>
                </c:pt>
                <c:pt idx="2">
                  <c:v>0.28000000000000003</c:v>
                </c:pt>
                <c:pt idx="3">
                  <c:v>0.17</c:v>
                </c:pt>
                <c:pt idx="4">
                  <c:v>0.11</c:v>
                </c:pt>
              </c:numCache>
            </c:numRef>
          </c:val>
          <c:extLst>
            <c:ext xmlns:c16="http://schemas.microsoft.com/office/drawing/2014/chart" uri="{C3380CC4-5D6E-409C-BE32-E72D297353CC}">
              <c16:uniqueId val="{00000000-F619-4403-A891-E79A5CFFD490}"/>
            </c:ext>
          </c:extLst>
        </c:ser>
        <c:ser>
          <c:idx val="2"/>
          <c:order val="2"/>
          <c:tx>
            <c:strRef>
              <c:f>Sheet2!$L$84</c:f>
              <c:strCache>
                <c:ptCount val="1"/>
                <c:pt idx="0">
                  <c:v>offline lectures</c:v>
                </c:pt>
              </c:strCache>
            </c:strRef>
          </c:tx>
          <c:spPr>
            <a:solidFill>
              <a:schemeClr val="accent2">
                <a:tint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Sheet2!$L$85:$L$89</c:f>
              <c:numCache>
                <c:formatCode>0%</c:formatCode>
                <c:ptCount val="5"/>
                <c:pt idx="0">
                  <c:v>0.11</c:v>
                </c:pt>
                <c:pt idx="1">
                  <c:v>0.08</c:v>
                </c:pt>
                <c:pt idx="2">
                  <c:v>0.14000000000000001</c:v>
                </c:pt>
                <c:pt idx="3">
                  <c:v>0.41</c:v>
                </c:pt>
                <c:pt idx="4">
                  <c:v>0.26</c:v>
                </c:pt>
              </c:numCache>
            </c:numRef>
          </c:val>
          <c:extLst>
            <c:ext xmlns:c16="http://schemas.microsoft.com/office/drawing/2014/chart" uri="{C3380CC4-5D6E-409C-BE32-E72D297353CC}">
              <c16:uniqueId val="{00000001-F619-4403-A891-E79A5CFFD490}"/>
            </c:ext>
          </c:extLst>
        </c:ser>
        <c:dLbls>
          <c:showLegendKey val="0"/>
          <c:showVal val="1"/>
          <c:showCatName val="0"/>
          <c:showSerName val="0"/>
          <c:showPercent val="0"/>
          <c:showBubbleSize val="0"/>
        </c:dLbls>
        <c:gapWidth val="75"/>
        <c:axId val="1787176656"/>
        <c:axId val="1787174160"/>
        <c:extLst>
          <c:ext xmlns:c15="http://schemas.microsoft.com/office/drawing/2012/chart" uri="{02D57815-91ED-43cb-92C2-25804820EDAC}">
            <c15:filteredBarSeries>
              <c15:ser>
                <c:idx val="0"/>
                <c:order val="0"/>
                <c:tx>
                  <c:strRef>
                    <c:extLst>
                      <c:ext uri="{02D57815-91ED-43cb-92C2-25804820EDAC}">
                        <c15:formulaRef>
                          <c15:sqref>Sheet2!$J$84</c15:sqref>
                        </c15:formulaRef>
                      </c:ext>
                    </c:extLst>
                    <c:strCache>
                      <c:ptCount val="1"/>
                      <c:pt idx="0">
                        <c:v>RATING</c:v>
                      </c:pt>
                    </c:strCache>
                  </c:strRef>
                </c:tx>
                <c:spPr>
                  <a:solidFill>
                    <a:schemeClr val="accent2">
                      <a:shade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val>
                  <c:numRef>
                    <c:extLst>
                      <c:ext uri="{02D57815-91ED-43cb-92C2-25804820EDAC}">
                        <c15:formulaRef>
                          <c15:sqref>Sheet2!$J$85:$J$89</c15:sqref>
                        </c15:formulaRef>
                      </c:ext>
                    </c:extLst>
                    <c:numCache>
                      <c:formatCode>General</c:formatCode>
                      <c:ptCount val="5"/>
                      <c:pt idx="0">
                        <c:v>1</c:v>
                      </c:pt>
                      <c:pt idx="1">
                        <c:v>2</c:v>
                      </c:pt>
                      <c:pt idx="2">
                        <c:v>3</c:v>
                      </c:pt>
                      <c:pt idx="3">
                        <c:v>4</c:v>
                      </c:pt>
                      <c:pt idx="4">
                        <c:v>5</c:v>
                      </c:pt>
                    </c:numCache>
                  </c:numRef>
                </c:val>
                <c:extLst>
                  <c:ext xmlns:c16="http://schemas.microsoft.com/office/drawing/2014/chart" uri="{C3380CC4-5D6E-409C-BE32-E72D297353CC}">
                    <c16:uniqueId val="{00000002-F619-4403-A891-E79A5CFFD490}"/>
                  </c:ext>
                </c:extLst>
              </c15:ser>
            </c15:filteredBarSeries>
          </c:ext>
        </c:extLst>
      </c:barChart>
      <c:catAx>
        <c:axId val="178717665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7174160"/>
        <c:crosses val="autoZero"/>
        <c:auto val="1"/>
        <c:lblAlgn val="ctr"/>
        <c:lblOffset val="100"/>
        <c:noMultiLvlLbl val="0"/>
      </c:catAx>
      <c:valAx>
        <c:axId val="178717416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7871766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Reversed" id="26">
  <a:schemeClr val="accent6"/>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354994-A962-0A43-B1AE-F903E0869B73}" type="datetimeFigureOut">
              <a:rPr lang="en-US"/>
              <a:t>1/27/2022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8D14E6-C8D1-0E48-B1F9-30B112F51BE1}" type="slidenum">
              <a:rPr lang="en-US"/>
              <a:t>‹#›</a:t>
            </a:fld>
            <a:endParaRPr lang="en-US"/>
          </a:p>
        </p:txBody>
      </p:sp>
    </p:spTree>
    <p:extLst>
      <p:ext uri="{BB962C8B-B14F-4D97-AF65-F5344CB8AC3E}">
        <p14:creationId xmlns:p14="http://schemas.microsoft.com/office/powerpoint/2010/main" val="3849516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Introduced</a:t>
            </a:r>
          </a:p>
          <a:p>
            <a:endParaRPr lang="en-US"/>
          </a:p>
        </p:txBody>
      </p:sp>
      <p:sp>
        <p:nvSpPr>
          <p:cNvPr id="4" name="Slide Number Placeholder 3"/>
          <p:cNvSpPr>
            <a:spLocks noGrp="1"/>
          </p:cNvSpPr>
          <p:nvPr>
            <p:ph type="sldNum" sz="quarter" idx="5"/>
          </p:nvPr>
        </p:nvSpPr>
        <p:spPr/>
        <p:txBody>
          <a:bodyPr/>
          <a:lstStyle/>
          <a:p>
            <a:fld id="{438D14E6-C8D1-0E48-B1F9-30B112F51BE1}" type="slidenum">
              <a:rPr lang="en-US"/>
              <a:t>3</a:t>
            </a:fld>
            <a:endParaRPr lang="en-US"/>
          </a:p>
        </p:txBody>
      </p:sp>
    </p:spTree>
    <p:extLst>
      <p:ext uri="{BB962C8B-B14F-4D97-AF65-F5344CB8AC3E}">
        <p14:creationId xmlns:p14="http://schemas.microsoft.com/office/powerpoint/2010/main" val="4183156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38D14E6-C8D1-0E48-B1F9-30B112F51BE1}" type="slidenum">
              <a:rPr lang="en-US" smtClean="0"/>
              <a:t>7</a:t>
            </a:fld>
            <a:endParaRPr lang="en-US"/>
          </a:p>
        </p:txBody>
      </p:sp>
    </p:spTree>
    <p:extLst>
      <p:ext uri="{BB962C8B-B14F-4D97-AF65-F5344CB8AC3E}">
        <p14:creationId xmlns:p14="http://schemas.microsoft.com/office/powerpoint/2010/main" val="3484610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t>
            </a:r>
          </a:p>
        </p:txBody>
      </p:sp>
      <p:sp>
        <p:nvSpPr>
          <p:cNvPr id="4" name="Slide Number Placeholder 3"/>
          <p:cNvSpPr>
            <a:spLocks noGrp="1"/>
          </p:cNvSpPr>
          <p:nvPr>
            <p:ph type="sldNum" sz="quarter" idx="5"/>
          </p:nvPr>
        </p:nvSpPr>
        <p:spPr/>
        <p:txBody>
          <a:bodyPr/>
          <a:lstStyle/>
          <a:p>
            <a:fld id="{438D14E6-C8D1-0E48-B1F9-30B112F51BE1}" type="slidenum">
              <a:rPr lang="en-US" smtClean="0"/>
              <a:t>12</a:t>
            </a:fld>
            <a:endParaRPr lang="en-US"/>
          </a:p>
        </p:txBody>
      </p:sp>
    </p:spTree>
    <p:extLst>
      <p:ext uri="{BB962C8B-B14F-4D97-AF65-F5344CB8AC3E}">
        <p14:creationId xmlns:p14="http://schemas.microsoft.com/office/powerpoint/2010/main" val="1671489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55407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2693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31411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09088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7682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15120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6183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15849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22397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56302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080877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98707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524945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84434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563544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32140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1/27/2022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2060425"/>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indianexpress.com/about/coronavirus/"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therunman.blogspot.com/2013/03/janets-easter-thank-you.html" TargetMode="External"/><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A0280ADB-5A6A-9140-BB1A-BC4CF87D6221}"/>
              </a:ext>
            </a:extLst>
          </p:cNvPr>
          <p:cNvPicPr>
            <a:picLocks noChangeAspect="1"/>
          </p:cNvPicPr>
          <p:nvPr/>
        </p:nvPicPr>
        <p:blipFill>
          <a:blip r:embed="rId2"/>
          <a:stretch>
            <a:fillRect/>
          </a:stretch>
        </p:blipFill>
        <p:spPr>
          <a:xfrm>
            <a:off x="5660278" y="2593464"/>
            <a:ext cx="6100706" cy="3264072"/>
          </a:xfrm>
          <a:prstGeom prst="rect">
            <a:avLst/>
          </a:prstGeom>
          <a:effectLst>
            <a:outerShdw blurRad="50800" dist="38100" dir="5400000" algn="t" rotWithShape="0">
              <a:prstClr val="black">
                <a:alpha val="40000"/>
              </a:prstClr>
            </a:outerShdw>
            <a:reflection blurRad="6350" stA="50000" endA="300" endPos="55500" dist="101600" dir="5400000" sy="-100000" algn="bl" rotWithShape="0"/>
          </a:effectLst>
        </p:spPr>
      </p:pic>
      <p:pic>
        <p:nvPicPr>
          <p:cNvPr id="4" name="Picture 4">
            <a:extLst>
              <a:ext uri="{FF2B5EF4-FFF2-40B4-BE49-F238E27FC236}">
                <a16:creationId xmlns:a16="http://schemas.microsoft.com/office/drawing/2014/main" id="{D0582502-5D89-6C4F-AF11-799C29B0E6EC}"/>
              </a:ext>
            </a:extLst>
          </p:cNvPr>
          <p:cNvPicPr>
            <a:picLocks noChangeAspect="1"/>
          </p:cNvPicPr>
          <p:nvPr/>
        </p:nvPicPr>
        <p:blipFill>
          <a:blip r:embed="rId3"/>
          <a:stretch>
            <a:fillRect/>
          </a:stretch>
        </p:blipFill>
        <p:spPr>
          <a:xfrm>
            <a:off x="254067" y="319531"/>
            <a:ext cx="3440752" cy="3577540"/>
          </a:xfrm>
          <a:prstGeom prst="rect">
            <a:avLst/>
          </a:prstGeom>
        </p:spPr>
      </p:pic>
      <p:sp>
        <p:nvSpPr>
          <p:cNvPr id="6" name="TextBox 5">
            <a:extLst>
              <a:ext uri="{FF2B5EF4-FFF2-40B4-BE49-F238E27FC236}">
                <a16:creationId xmlns:a16="http://schemas.microsoft.com/office/drawing/2014/main" id="{DD02E4B8-563C-E644-95BA-2E03671CB9E3}"/>
              </a:ext>
            </a:extLst>
          </p:cNvPr>
          <p:cNvSpPr txBox="1"/>
          <p:nvPr/>
        </p:nvSpPr>
        <p:spPr>
          <a:xfrm>
            <a:off x="5059920" y="132522"/>
            <a:ext cx="8095873" cy="1975779"/>
          </a:xfrm>
          <a:prstGeom prst="rect">
            <a:avLst/>
          </a:prstGeom>
          <a:noFill/>
        </p:spPr>
        <p:txBody>
          <a:bodyPr wrap="square">
            <a:spAutoFit/>
          </a:bodyPr>
          <a:lstStyle/>
          <a:p>
            <a:r>
              <a:rPr lang="en-IN" sz="2800" b="1" dirty="0">
                <a:solidFill>
                  <a:schemeClr val="accent5">
                    <a:lumMod val="75000"/>
                  </a:schemeClr>
                </a:solidFill>
                <a:latin typeface="Arial Black" panose="020B0604020202020204" pitchFamily="34" charset="0"/>
                <a:ea typeface="Amasis MT Pro Black" panose="02000000000000000000" pitchFamily="2" charset="0"/>
                <a:cs typeface="Arial Black" panose="020B0604020202020204" pitchFamily="34" charset="0"/>
              </a:rPr>
              <a:t>RAMNIRANJAN JHUNJHUNWALA  COLLEGE</a:t>
            </a:r>
          </a:p>
          <a:p>
            <a:r>
              <a:rPr lang="en-IN" sz="2800" b="1" dirty="0">
                <a:solidFill>
                  <a:schemeClr val="accent5">
                    <a:lumMod val="75000"/>
                  </a:schemeClr>
                </a:solidFill>
                <a:latin typeface="Arial Black" panose="020B0604020202020204" pitchFamily="34" charset="0"/>
                <a:ea typeface="Amasis MT Pro Black" panose="02000000000000000000" pitchFamily="2" charset="0"/>
                <a:cs typeface="Arial Black" panose="020B0604020202020204" pitchFamily="34" charset="0"/>
              </a:rPr>
              <a:t> GHATKOPAR (WEST) </a:t>
            </a:r>
          </a:p>
          <a:p>
            <a:endParaRPr lang="en-IN" dirty="0"/>
          </a:p>
          <a:p>
            <a:r>
              <a:rPr lang="en-IN" dirty="0"/>
              <a:t> </a:t>
            </a:r>
            <a:endParaRPr lang="en-US" dirty="0"/>
          </a:p>
        </p:txBody>
      </p:sp>
      <p:sp>
        <p:nvSpPr>
          <p:cNvPr id="5" name="TextBox 4">
            <a:extLst>
              <a:ext uri="{FF2B5EF4-FFF2-40B4-BE49-F238E27FC236}">
                <a16:creationId xmlns:a16="http://schemas.microsoft.com/office/drawing/2014/main" id="{B3895531-CAEA-7540-ABCB-47BB47173E1F}"/>
              </a:ext>
            </a:extLst>
          </p:cNvPr>
          <p:cNvSpPr txBox="1"/>
          <p:nvPr/>
        </p:nvSpPr>
        <p:spPr>
          <a:xfrm>
            <a:off x="137335" y="4553929"/>
            <a:ext cx="6633322" cy="1508105"/>
          </a:xfrm>
          <a:prstGeom prst="rect">
            <a:avLst/>
          </a:prstGeom>
          <a:noFill/>
        </p:spPr>
        <p:txBody>
          <a:bodyPr wrap="square">
            <a:spAutoFit/>
          </a:bodyPr>
          <a:lstStyle/>
          <a:p>
            <a:r>
              <a:rPr lang="en-IN" b="1" i="1" dirty="0"/>
              <a:t>                           PRESENTATION</a:t>
            </a:r>
            <a:r>
              <a:rPr lang="en-IN" dirty="0"/>
              <a:t>  </a:t>
            </a:r>
            <a:r>
              <a:rPr lang="en-IN" b="1" dirty="0"/>
              <a:t>BY</a:t>
            </a:r>
            <a:r>
              <a:rPr lang="en-IN" dirty="0"/>
              <a:t>:</a:t>
            </a:r>
          </a:p>
          <a:p>
            <a:endParaRPr lang="en-IN" dirty="0"/>
          </a:p>
          <a:p>
            <a:r>
              <a:rPr lang="en-IN" dirty="0"/>
              <a:t>                                 </a:t>
            </a:r>
            <a:r>
              <a:rPr lang="en-IN" sz="2800" b="1" dirty="0">
                <a:solidFill>
                  <a:srgbClr val="00B050"/>
                </a:solidFill>
                <a:latin typeface="Bahnschrift SemiBold Condensed" panose="02000000000000000000" pitchFamily="2" charset="0"/>
                <a:ea typeface="Bahnschrift SemiBold Condensed" panose="02000000000000000000" pitchFamily="2" charset="0"/>
              </a:rPr>
              <a:t>SAPANA GUPTA. </a:t>
            </a:r>
          </a:p>
          <a:p>
            <a:r>
              <a:rPr lang="en-IN" sz="2800" b="1" dirty="0">
                <a:solidFill>
                  <a:srgbClr val="00B050"/>
                </a:solidFill>
                <a:latin typeface="Bahnschrift SemiBold Condensed" panose="02000000000000000000" pitchFamily="2" charset="0"/>
                <a:ea typeface="Bahnschrift SemiBold Condensed" panose="02000000000000000000" pitchFamily="2" charset="0"/>
              </a:rPr>
              <a:t>                                        JYOTI SHUKLA</a:t>
            </a:r>
            <a:r>
              <a:rPr lang="en-IN" sz="2000" b="1" i="1" dirty="0">
                <a:solidFill>
                  <a:srgbClr val="00B050"/>
                </a:solidFill>
                <a:latin typeface="Bahnschrift SemiBold Condensed" panose="02000000000000000000" pitchFamily="2" charset="0"/>
                <a:ea typeface="Bahnschrift SemiBold Condensed" panose="02000000000000000000" pitchFamily="2" charset="0"/>
              </a:rPr>
              <a:t>. </a:t>
            </a:r>
            <a:endParaRPr lang="en-US" sz="2000" b="1" i="1" dirty="0">
              <a:solidFill>
                <a:srgbClr val="00B050"/>
              </a:solidFill>
              <a:latin typeface="Bahnschrift SemiBold Condensed" panose="02000000000000000000" pitchFamily="2" charset="0"/>
              <a:ea typeface="Bahnschrift SemiBold Condensed" panose="02000000000000000000" pitchFamily="2" charset="0"/>
            </a:endParaRPr>
          </a:p>
        </p:txBody>
      </p:sp>
    </p:spTree>
    <p:extLst>
      <p:ext uri="{BB962C8B-B14F-4D97-AF65-F5344CB8AC3E}">
        <p14:creationId xmlns:p14="http://schemas.microsoft.com/office/powerpoint/2010/main" val="1558558566"/>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3A8EB-2E9B-EA48-89B4-7765C732A0D5}"/>
              </a:ext>
            </a:extLst>
          </p:cNvPr>
          <p:cNvSpPr>
            <a:spLocks noGrp="1"/>
          </p:cNvSpPr>
          <p:nvPr>
            <p:ph type="title"/>
          </p:nvPr>
        </p:nvSpPr>
        <p:spPr>
          <a:xfrm>
            <a:off x="2513794" y="580148"/>
            <a:ext cx="8911687" cy="1280890"/>
          </a:xfrm>
        </p:spPr>
        <p:txBody>
          <a:bodyPr>
            <a:normAutofit fontScale="90000"/>
          </a:bodyPr>
          <a:lstStyle/>
          <a:p>
            <a:r>
              <a:rPr lang="en-US" b="1" dirty="0"/>
              <a:t>Comparative study of smartphone usage during lockdown </a:t>
            </a:r>
            <a:r>
              <a:rPr lang="en-IN" b="1" dirty="0"/>
              <a:t>and</a:t>
            </a:r>
            <a:r>
              <a:rPr lang="en-US" b="1" dirty="0"/>
              <a:t> post-lockdown</a:t>
            </a:r>
            <a:r>
              <a:rPr lang="en-US" b="1" i="1" dirty="0"/>
              <a:t>.</a:t>
            </a:r>
          </a:p>
        </p:txBody>
      </p:sp>
      <p:pic>
        <p:nvPicPr>
          <p:cNvPr id="4" name="Picture 4">
            <a:extLst>
              <a:ext uri="{FF2B5EF4-FFF2-40B4-BE49-F238E27FC236}">
                <a16:creationId xmlns:a16="http://schemas.microsoft.com/office/drawing/2014/main" id="{71BEC510-4687-4C48-93BF-3D07569FDFE6}"/>
              </a:ext>
            </a:extLst>
          </p:cNvPr>
          <p:cNvPicPr>
            <a:picLocks noGrp="1" noChangeAspect="1"/>
          </p:cNvPicPr>
          <p:nvPr>
            <p:ph idx="1"/>
          </p:nvPr>
        </p:nvPicPr>
        <p:blipFill>
          <a:blip r:embed="rId2"/>
          <a:stretch>
            <a:fillRect/>
          </a:stretch>
        </p:blipFill>
        <p:spPr>
          <a:xfrm>
            <a:off x="532566" y="2514600"/>
            <a:ext cx="5153822" cy="3639981"/>
          </a:xfrm>
          <a:effectLst>
            <a:outerShdw blurRad="50800" dist="38100" dir="5400000" algn="t" rotWithShape="0">
              <a:prstClr val="black">
                <a:alpha val="40000"/>
              </a:prstClr>
            </a:outerShdw>
          </a:effectLst>
        </p:spPr>
      </p:pic>
      <p:pic>
        <p:nvPicPr>
          <p:cNvPr id="5" name="Picture 5">
            <a:extLst>
              <a:ext uri="{FF2B5EF4-FFF2-40B4-BE49-F238E27FC236}">
                <a16:creationId xmlns:a16="http://schemas.microsoft.com/office/drawing/2014/main" id="{B1A1DD2B-03BA-E44D-B637-AB17436E2867}"/>
              </a:ext>
            </a:extLst>
          </p:cNvPr>
          <p:cNvPicPr>
            <a:picLocks noChangeAspect="1"/>
          </p:cNvPicPr>
          <p:nvPr/>
        </p:nvPicPr>
        <p:blipFill>
          <a:blip r:embed="rId3"/>
          <a:stretch>
            <a:fillRect/>
          </a:stretch>
        </p:blipFill>
        <p:spPr>
          <a:xfrm>
            <a:off x="6202787" y="2514600"/>
            <a:ext cx="5591648" cy="3638767"/>
          </a:xfrm>
          <a:prstGeom prst="rect">
            <a:avLst/>
          </a:prstGeom>
        </p:spPr>
      </p:pic>
    </p:spTree>
    <p:extLst>
      <p:ext uri="{BB962C8B-B14F-4D97-AF65-F5344CB8AC3E}">
        <p14:creationId xmlns:p14="http://schemas.microsoft.com/office/powerpoint/2010/main" val="28879306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62DC92-F947-EC48-BA5E-8429EA9AE3CF}"/>
              </a:ext>
            </a:extLst>
          </p:cNvPr>
          <p:cNvSpPr txBox="1"/>
          <p:nvPr/>
        </p:nvSpPr>
        <p:spPr>
          <a:xfrm>
            <a:off x="2642372" y="590442"/>
            <a:ext cx="7266559" cy="1323439"/>
          </a:xfrm>
          <a:prstGeom prst="rect">
            <a:avLst/>
          </a:prstGeom>
          <a:noFill/>
        </p:spPr>
        <p:txBody>
          <a:bodyPr wrap="square">
            <a:spAutoFit/>
          </a:bodyPr>
          <a:lstStyle/>
          <a:p>
            <a:pPr algn="ctr"/>
            <a:r>
              <a:rPr lang="en-IN" sz="4000" b="1" dirty="0">
                <a:solidFill>
                  <a:srgbClr val="0070C0"/>
                </a:solidFill>
                <a:latin typeface="Berlin Sans FB Demi" panose="02000000000000000000" pitchFamily="2" charset="0"/>
                <a:ea typeface="Berlin Sans FB Demi" panose="02000000000000000000" pitchFamily="2" charset="0"/>
              </a:rPr>
              <a:t>INTRODUCTION:</a:t>
            </a:r>
          </a:p>
          <a:p>
            <a:endParaRPr lang="en-US" sz="4000" b="1" i="1" dirty="0">
              <a:solidFill>
                <a:srgbClr val="00B0F0"/>
              </a:solidFill>
              <a:latin typeface="Berlin Sans FB Demi" panose="02000000000000000000" pitchFamily="2" charset="0"/>
              <a:ea typeface="Berlin Sans FB Demi" panose="02000000000000000000" pitchFamily="2" charset="0"/>
            </a:endParaRPr>
          </a:p>
        </p:txBody>
      </p:sp>
      <p:sp>
        <p:nvSpPr>
          <p:cNvPr id="6" name="TextBox 5">
            <a:extLst>
              <a:ext uri="{FF2B5EF4-FFF2-40B4-BE49-F238E27FC236}">
                <a16:creationId xmlns:a16="http://schemas.microsoft.com/office/drawing/2014/main" id="{B7A7E551-9CD0-5F4C-854F-B67B1840C0D0}"/>
              </a:ext>
            </a:extLst>
          </p:cNvPr>
          <p:cNvSpPr txBox="1"/>
          <p:nvPr/>
        </p:nvSpPr>
        <p:spPr>
          <a:xfrm>
            <a:off x="1989927" y="1614943"/>
            <a:ext cx="8939193" cy="5078313"/>
          </a:xfrm>
          <a:prstGeom prst="rect">
            <a:avLst/>
          </a:prstGeom>
          <a:noFill/>
        </p:spPr>
        <p:txBody>
          <a:bodyPr wrap="square">
            <a:spAutoFit/>
          </a:bodyPr>
          <a:lstStyle/>
          <a:p>
            <a:pPr marL="342900" indent="-342900">
              <a:buFont typeface="Wingdings" panose="05000000000000000000" pitchFamily="2" charset="2"/>
              <a:buChar char="q"/>
            </a:pPr>
            <a:r>
              <a:rPr lang="en-US" b="1" dirty="0"/>
              <a:t>The </a:t>
            </a:r>
            <a:r>
              <a:rPr lang="en-US" b="1" dirty="0">
                <a:hlinkClick r:id="rId3"/>
              </a:rPr>
              <a:t>COVID-19</a:t>
            </a:r>
            <a:r>
              <a:rPr lang="en-US" b="1" dirty="0"/>
              <a:t> pandemic has tightened the grip smartphones exercise on users, and this is starting to have a negative impact on the mental and physical health of users, with a majority worrying about their smartphone addiction.</a:t>
            </a:r>
          </a:p>
          <a:p>
            <a:pPr marL="342900" indent="-342900">
              <a:buFont typeface="Wingdings" panose="05000000000000000000" pitchFamily="2" charset="2"/>
              <a:buChar char="q"/>
            </a:pPr>
            <a:endParaRPr lang="en-US" dirty="0"/>
          </a:p>
          <a:p>
            <a:pPr marL="342900" indent="-342900">
              <a:buFont typeface="Wingdings" panose="05000000000000000000" pitchFamily="2" charset="2"/>
              <a:buChar char="q"/>
            </a:pPr>
            <a:r>
              <a:rPr lang="en-US" dirty="0"/>
              <a:t> </a:t>
            </a:r>
            <a:r>
              <a:rPr lang="en-US" b="1" dirty="0">
                <a:solidFill>
                  <a:srgbClr val="202124"/>
                </a:solidFill>
                <a:latin typeface="arial" panose="020B0604020202020204" pitchFamily="34" charset="0"/>
              </a:rPr>
              <a:t>Covid-19 also acted as a catalyst for digital adoption in school and college education system .</a:t>
            </a:r>
          </a:p>
          <a:p>
            <a:pPr marL="342900" indent="-342900">
              <a:buFont typeface="Wingdings" panose="05000000000000000000" pitchFamily="2" charset="2"/>
              <a:buChar char="q"/>
            </a:pPr>
            <a:endParaRPr lang="en-US" dirty="0">
              <a:solidFill>
                <a:srgbClr val="202124"/>
              </a:solidFill>
              <a:latin typeface="arial" panose="020B0604020202020204" pitchFamily="34" charset="0"/>
            </a:endParaRPr>
          </a:p>
          <a:p>
            <a:pPr marL="342900" indent="-342900">
              <a:buFont typeface="Wingdings" panose="05000000000000000000" pitchFamily="2" charset="2"/>
              <a:buChar char="q"/>
            </a:pPr>
            <a:r>
              <a:rPr lang="en-US" b="1" dirty="0">
                <a:solidFill>
                  <a:srgbClr val="202124"/>
                </a:solidFill>
                <a:latin typeface="arial" panose="020B0604020202020204" pitchFamily="34" charset="0"/>
              </a:rPr>
              <a:t>Students mention that they use smartphones for communication, socializing, entertainment, reading and for finding information for their daily information needs</a:t>
            </a:r>
            <a:r>
              <a:rPr lang="en-US" dirty="0">
                <a:solidFill>
                  <a:srgbClr val="202124"/>
                </a:solidFill>
                <a:latin typeface="arial" panose="020B0604020202020204" pitchFamily="34" charset="0"/>
              </a:rPr>
              <a:t>.</a:t>
            </a:r>
          </a:p>
          <a:p>
            <a:pPr marL="342900" indent="-342900">
              <a:buFont typeface="Wingdings" panose="05000000000000000000" pitchFamily="2" charset="2"/>
              <a:buChar char="q"/>
            </a:pPr>
            <a:endParaRPr lang="en-US" dirty="0">
              <a:solidFill>
                <a:srgbClr val="202124"/>
              </a:solidFill>
              <a:latin typeface="arial" panose="020B0604020202020204" pitchFamily="34" charset="0"/>
            </a:endParaRPr>
          </a:p>
          <a:p>
            <a:pPr marL="342900" indent="-342900">
              <a:buFont typeface="Wingdings" panose="05000000000000000000" pitchFamily="2" charset="2"/>
              <a:buChar char="q"/>
            </a:pPr>
            <a:r>
              <a:rPr lang="en-US" b="1" dirty="0"/>
              <a:t>Parents and children are spending more time on various screens at home which is seriously affecting their health and now days that students are making excessive use of their mobile phones during the lockdown.</a:t>
            </a:r>
          </a:p>
          <a:p>
            <a:endParaRPr lang="en-IN" b="1" dirty="0"/>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47075917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061AFAD-FB52-984A-8A73-CFC277255096}"/>
              </a:ext>
            </a:extLst>
          </p:cNvPr>
          <p:cNvSpPr txBox="1"/>
          <p:nvPr/>
        </p:nvSpPr>
        <p:spPr>
          <a:xfrm>
            <a:off x="3294185" y="998577"/>
            <a:ext cx="6096000" cy="707886"/>
          </a:xfrm>
          <a:prstGeom prst="rect">
            <a:avLst/>
          </a:prstGeom>
          <a:noFill/>
        </p:spPr>
        <p:txBody>
          <a:bodyPr wrap="square">
            <a:spAutoFit/>
          </a:bodyPr>
          <a:lstStyle/>
          <a:p>
            <a:r>
              <a:rPr lang="en-IN" sz="4000" b="1" dirty="0">
                <a:solidFill>
                  <a:srgbClr val="0070C0"/>
                </a:solidFill>
                <a:latin typeface="Berlin Sans FB" panose="020E0602020502020306" pitchFamily="34" charset="0"/>
                <a:cs typeface="Arial Black" panose="020B0604020202020204" pitchFamily="34" charset="0"/>
              </a:rPr>
              <a:t>OBJECTIVES</a:t>
            </a:r>
            <a:r>
              <a:rPr lang="en-IN" sz="3600" b="1" dirty="0">
                <a:solidFill>
                  <a:srgbClr val="0070C0"/>
                </a:solidFill>
                <a:latin typeface="Berlin Sans FB" panose="020E0602020502020306" pitchFamily="34" charset="0"/>
                <a:cs typeface="Arial Black" panose="020B0604020202020204" pitchFamily="34" charset="0"/>
              </a:rPr>
              <a:t>:</a:t>
            </a:r>
            <a:endParaRPr lang="en-US" sz="3600" b="1" dirty="0">
              <a:solidFill>
                <a:srgbClr val="0070C0"/>
              </a:solidFill>
              <a:latin typeface="Berlin Sans FB" panose="020E0602020502020306" pitchFamily="34" charset="0"/>
              <a:cs typeface="Arial Black" panose="020B0604020202020204" pitchFamily="34" charset="0"/>
            </a:endParaRPr>
          </a:p>
        </p:txBody>
      </p:sp>
      <p:sp>
        <p:nvSpPr>
          <p:cNvPr id="9" name="TextBox 8">
            <a:extLst>
              <a:ext uri="{FF2B5EF4-FFF2-40B4-BE49-F238E27FC236}">
                <a16:creationId xmlns:a16="http://schemas.microsoft.com/office/drawing/2014/main" id="{72928208-BFA9-DB41-A082-3A2AB5D43607}"/>
              </a:ext>
            </a:extLst>
          </p:cNvPr>
          <p:cNvSpPr txBox="1"/>
          <p:nvPr/>
        </p:nvSpPr>
        <p:spPr>
          <a:xfrm>
            <a:off x="1413692" y="2082472"/>
            <a:ext cx="10220502" cy="3323987"/>
          </a:xfrm>
          <a:prstGeom prst="rect">
            <a:avLst/>
          </a:prstGeom>
          <a:noFill/>
        </p:spPr>
        <p:txBody>
          <a:bodyPr wrap="square">
            <a:spAutoFit/>
          </a:bodyPr>
          <a:lstStyle/>
          <a:p>
            <a:pPr marL="342900" indent="-342900">
              <a:buFont typeface="Wingdings" panose="05000000000000000000" pitchFamily="2" charset="2"/>
              <a:buChar char="v"/>
            </a:pPr>
            <a:r>
              <a:rPr lang="en-IN" sz="2400" b="1" dirty="0"/>
              <a:t>To study the significant difference between average number of hours spent on smartphone during lockdown and post-lockdown. </a:t>
            </a:r>
          </a:p>
          <a:p>
            <a:pPr marL="285750" indent="-285750">
              <a:buFont typeface="Arial" panose="020B0604020202020204" pitchFamily="34" charset="0"/>
              <a:buChar char="•"/>
            </a:pPr>
            <a:endParaRPr lang="en-IN" sz="2400" b="1" dirty="0"/>
          </a:p>
          <a:p>
            <a:pPr marL="342900" indent="-342900">
              <a:buFont typeface="Wingdings" panose="05000000000000000000" pitchFamily="2" charset="2"/>
              <a:buChar char="v"/>
            </a:pPr>
            <a:r>
              <a:rPr lang="en-IN" sz="2400" b="1" dirty="0"/>
              <a:t>To study the difference between number of hours spent in online lectures v/s in offline lectures.</a:t>
            </a:r>
          </a:p>
          <a:p>
            <a:r>
              <a:rPr lang="en-IN" sz="2400" b="1" dirty="0"/>
              <a:t> </a:t>
            </a:r>
          </a:p>
          <a:p>
            <a:pPr marL="342900" indent="-342900">
              <a:buFont typeface="Wingdings" panose="05000000000000000000" pitchFamily="2" charset="2"/>
              <a:buChar char="v"/>
            </a:pPr>
            <a:r>
              <a:rPr lang="en-IN" sz="2400" b="1" dirty="0"/>
              <a:t>Is there any association between age and frequency with which they use the internet.</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35396103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903F09-84AC-2D4B-8B7A-1493B69B835C}"/>
              </a:ext>
            </a:extLst>
          </p:cNvPr>
          <p:cNvSpPr txBox="1"/>
          <p:nvPr/>
        </p:nvSpPr>
        <p:spPr>
          <a:xfrm>
            <a:off x="3113681" y="249957"/>
            <a:ext cx="6614039" cy="707886"/>
          </a:xfrm>
          <a:prstGeom prst="rect">
            <a:avLst/>
          </a:prstGeom>
          <a:noFill/>
        </p:spPr>
        <p:txBody>
          <a:bodyPr wrap="square">
            <a:spAutoFit/>
          </a:bodyPr>
          <a:lstStyle/>
          <a:p>
            <a:r>
              <a:rPr lang="en-IN" sz="4000" b="1" dirty="0">
                <a:solidFill>
                  <a:srgbClr val="0070C0"/>
                </a:solidFill>
                <a:latin typeface="Berlin Sans FB" panose="020E0602020502020306" pitchFamily="34" charset="0"/>
                <a:cs typeface="Arial Black" panose="020B0604020202020204" pitchFamily="34" charset="0"/>
              </a:rPr>
              <a:t>METHODOLOGY</a:t>
            </a:r>
            <a:r>
              <a:rPr lang="en-IN" sz="4000" b="1" dirty="0">
                <a:solidFill>
                  <a:srgbClr val="0070C0"/>
                </a:solidFill>
                <a:latin typeface="Arial Black" panose="020B0604020202020204" pitchFamily="34" charset="0"/>
                <a:cs typeface="Arial Black" panose="020B0604020202020204" pitchFamily="34" charset="0"/>
              </a:rPr>
              <a:t>:</a:t>
            </a:r>
            <a:endParaRPr lang="en-US" sz="4000" b="1" dirty="0">
              <a:solidFill>
                <a:srgbClr val="0070C0"/>
              </a:solidFill>
              <a:latin typeface="Arial Black" panose="020B0604020202020204" pitchFamily="34" charset="0"/>
              <a:cs typeface="Arial Black" panose="020B0604020202020204" pitchFamily="34" charset="0"/>
            </a:endParaRPr>
          </a:p>
        </p:txBody>
      </p:sp>
      <p:sp>
        <p:nvSpPr>
          <p:cNvPr id="9" name="TextBox 8">
            <a:extLst>
              <a:ext uri="{FF2B5EF4-FFF2-40B4-BE49-F238E27FC236}">
                <a16:creationId xmlns:a16="http://schemas.microsoft.com/office/drawing/2014/main" id="{09E6815F-22DA-E746-850F-BC54F6EBD2DC}"/>
              </a:ext>
            </a:extLst>
          </p:cNvPr>
          <p:cNvSpPr txBox="1"/>
          <p:nvPr/>
        </p:nvSpPr>
        <p:spPr>
          <a:xfrm>
            <a:off x="1072662" y="1468174"/>
            <a:ext cx="10647484" cy="6370975"/>
          </a:xfrm>
          <a:prstGeom prst="rect">
            <a:avLst/>
          </a:prstGeom>
          <a:noFill/>
        </p:spPr>
        <p:txBody>
          <a:bodyPr wrap="square">
            <a:spAutoFit/>
          </a:bodyPr>
          <a:lstStyle/>
          <a:p>
            <a:pPr marL="342900" indent="-342900">
              <a:buFont typeface="Wingdings" panose="05000000000000000000" pitchFamily="2" charset="2"/>
              <a:buChar char="v"/>
            </a:pPr>
            <a:r>
              <a:rPr lang="en-US" sz="2000" b="1" dirty="0"/>
              <a:t>Data was collected through questionnaire which was sent to students of all streams via Whatsapp , email, etc. </a:t>
            </a:r>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r>
              <a:rPr lang="en-US" sz="2000" b="1" dirty="0"/>
              <a:t>After the data collection ,we coded the data into excel format .</a:t>
            </a:r>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r>
              <a:rPr lang="en-US" sz="2000" b="1" dirty="0"/>
              <a:t>The tool we used for data analytics is Microsoft excel.</a:t>
            </a:r>
          </a:p>
          <a:p>
            <a:endParaRPr lang="en-US" sz="2000" b="1" dirty="0"/>
          </a:p>
          <a:p>
            <a:pPr marL="342900" indent="-342900">
              <a:buFont typeface="Wingdings" panose="05000000000000000000" pitchFamily="2" charset="2"/>
              <a:buChar char="v"/>
            </a:pPr>
            <a:r>
              <a:rPr lang="en-US" sz="2000" b="1" dirty="0"/>
              <a:t>Further for data analysis we used :-</a:t>
            </a:r>
          </a:p>
          <a:p>
            <a:r>
              <a:rPr lang="en-US" sz="2000" b="1" dirty="0"/>
              <a:t>       a. T-test :paired for two sample means :</a:t>
            </a:r>
            <a:r>
              <a:rPr lang="en-US" sz="2000" b="0" i="0" dirty="0">
                <a:solidFill>
                  <a:srgbClr val="202124"/>
                </a:solidFill>
                <a:effectLst/>
                <a:latin typeface="arial" panose="020B0604020202020204" pitchFamily="34" charset="0"/>
              </a:rPr>
              <a:t> </a:t>
            </a:r>
            <a:r>
              <a:rPr lang="en-US" sz="2000" b="1" i="0" dirty="0">
                <a:solidFill>
                  <a:srgbClr val="202124"/>
                </a:solidFill>
                <a:effectLst/>
                <a:latin typeface="arial" panose="020B0604020202020204" pitchFamily="34" charset="0"/>
              </a:rPr>
              <a:t>used to test whether</a:t>
            </a:r>
          </a:p>
          <a:p>
            <a:r>
              <a:rPr lang="en-US" sz="2000" dirty="0">
                <a:solidFill>
                  <a:srgbClr val="202124"/>
                </a:solidFill>
                <a:latin typeface="arial" panose="020B0604020202020204" pitchFamily="34" charset="0"/>
              </a:rPr>
              <a:t>        </a:t>
            </a:r>
            <a:r>
              <a:rPr lang="en-US" sz="2000" b="0" i="0" dirty="0">
                <a:solidFill>
                  <a:srgbClr val="202124"/>
                </a:solidFill>
                <a:effectLst/>
                <a:latin typeface="arial" panose="020B0604020202020204" pitchFamily="34" charset="0"/>
              </a:rPr>
              <a:t>    </a:t>
            </a:r>
            <a:r>
              <a:rPr lang="en-US" sz="2000" b="1" i="0" dirty="0">
                <a:solidFill>
                  <a:srgbClr val="202124"/>
                </a:solidFill>
                <a:effectLst/>
                <a:latin typeface="arial" panose="020B0604020202020204" pitchFamily="34" charset="0"/>
              </a:rPr>
              <a:t>the mean difference between pairs of measurements is zero or not</a:t>
            </a:r>
            <a:r>
              <a:rPr lang="en-US" sz="2000" b="0" i="0" dirty="0">
                <a:solidFill>
                  <a:srgbClr val="202124"/>
                </a:solidFill>
                <a:effectLst/>
                <a:latin typeface="arial" panose="020B0604020202020204" pitchFamily="34" charset="0"/>
              </a:rPr>
              <a:t>.</a:t>
            </a:r>
          </a:p>
          <a:p>
            <a:endParaRPr lang="en-US" sz="2000" b="1" dirty="0"/>
          </a:p>
          <a:p>
            <a:r>
              <a:rPr lang="en-US" sz="2000" b="1" dirty="0"/>
              <a:t>       b. T-test : assuming equal variances :</a:t>
            </a:r>
            <a:r>
              <a:rPr lang="en-US" sz="2000" b="1" i="0" dirty="0">
                <a:solidFill>
                  <a:srgbClr val="202124"/>
                </a:solidFill>
                <a:effectLst/>
                <a:latin typeface="arial" panose="020B0604020202020204" pitchFamily="34" charset="0"/>
              </a:rPr>
              <a:t>is</a:t>
            </a:r>
            <a:r>
              <a:rPr lang="en-US" sz="2000" b="0" i="0" dirty="0">
                <a:solidFill>
                  <a:srgbClr val="202124"/>
                </a:solidFill>
                <a:effectLst/>
                <a:latin typeface="arial" panose="020B0604020202020204" pitchFamily="34" charset="0"/>
              </a:rPr>
              <a:t> </a:t>
            </a:r>
            <a:r>
              <a:rPr lang="en-US" sz="2000" b="1" i="0" dirty="0">
                <a:solidFill>
                  <a:srgbClr val="202124"/>
                </a:solidFill>
                <a:effectLst/>
                <a:latin typeface="arial" panose="020B0604020202020204" pitchFamily="34" charset="0"/>
              </a:rPr>
              <a:t>used to test data to see if there</a:t>
            </a:r>
          </a:p>
          <a:p>
            <a:r>
              <a:rPr lang="en-US" sz="2000" b="1" dirty="0">
                <a:solidFill>
                  <a:srgbClr val="202124"/>
                </a:solidFill>
                <a:latin typeface="arial" panose="020B0604020202020204" pitchFamily="34" charset="0"/>
              </a:rPr>
              <a:t>          </a:t>
            </a:r>
            <a:r>
              <a:rPr lang="en-US" sz="2000" b="1" i="0" dirty="0">
                <a:solidFill>
                  <a:srgbClr val="202124"/>
                </a:solidFill>
                <a:effectLst/>
                <a:latin typeface="arial" panose="020B0604020202020204" pitchFamily="34" charset="0"/>
              </a:rPr>
              <a:t> is statistical significance or if the results may have occurred randomly</a:t>
            </a:r>
            <a:r>
              <a:rPr lang="en-US" sz="2000" b="0" i="0" dirty="0">
                <a:solidFill>
                  <a:srgbClr val="202124"/>
                </a:solidFill>
                <a:effectLst/>
                <a:latin typeface="arial" panose="020B0604020202020204" pitchFamily="34" charset="0"/>
              </a:rPr>
              <a:t>.</a:t>
            </a:r>
          </a:p>
          <a:p>
            <a:endParaRPr lang="en-US" sz="2000" b="1" dirty="0"/>
          </a:p>
          <a:p>
            <a:r>
              <a:rPr lang="en-US" sz="2000" b="1" dirty="0"/>
              <a:t>       c. Chi- square test :</a:t>
            </a:r>
            <a:r>
              <a:rPr lang="en-US" sz="2000" b="1" i="0" dirty="0">
                <a:solidFill>
                  <a:srgbClr val="202124"/>
                </a:solidFill>
                <a:effectLst/>
                <a:latin typeface="arial" panose="020B0604020202020204" pitchFamily="34" charset="0"/>
              </a:rPr>
              <a:t>used to compare observed results with expected results</a:t>
            </a:r>
            <a:r>
              <a:rPr lang="en-US" sz="2000" b="0" i="0" dirty="0">
                <a:solidFill>
                  <a:srgbClr val="202124"/>
                </a:solidFill>
                <a:effectLst/>
                <a:latin typeface="arial" panose="020B0604020202020204" pitchFamily="34" charset="0"/>
              </a:rPr>
              <a:t>. </a:t>
            </a:r>
            <a:endParaRPr lang="en-US" sz="2000" b="1" dirty="0"/>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endParaRPr lang="en-US" sz="2000" b="1" dirty="0"/>
          </a:p>
          <a:p>
            <a:endParaRPr lang="en-US" sz="2000" b="1" dirty="0"/>
          </a:p>
          <a:p>
            <a:pPr marL="342900" indent="-342900">
              <a:buFont typeface="Wingdings" panose="05000000000000000000" pitchFamily="2" charset="2"/>
              <a:buChar char="v"/>
            </a:pPr>
            <a:endParaRPr lang="en-US" sz="2400" b="1" dirty="0"/>
          </a:p>
          <a:p>
            <a:endParaRPr lang="en-US" sz="2400" b="1" dirty="0"/>
          </a:p>
        </p:txBody>
      </p:sp>
    </p:spTree>
    <p:extLst>
      <p:ext uri="{BB962C8B-B14F-4D97-AF65-F5344CB8AC3E}">
        <p14:creationId xmlns:p14="http://schemas.microsoft.com/office/powerpoint/2010/main" val="4037616935"/>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6CC5-DC74-4B3A-8E94-810E0AED7D51}"/>
              </a:ext>
            </a:extLst>
          </p:cNvPr>
          <p:cNvSpPr>
            <a:spLocks noGrp="1"/>
          </p:cNvSpPr>
          <p:nvPr>
            <p:ph type="title"/>
          </p:nvPr>
        </p:nvSpPr>
        <p:spPr>
          <a:xfrm>
            <a:off x="1736890" y="147455"/>
            <a:ext cx="8911687" cy="737762"/>
          </a:xfrm>
        </p:spPr>
        <p:txBody>
          <a:bodyPr/>
          <a:lstStyle/>
          <a:p>
            <a:r>
              <a:rPr lang="en-IN" b="1" u="sng" dirty="0">
                <a:solidFill>
                  <a:schemeClr val="accent5">
                    <a:lumMod val="75000"/>
                  </a:schemeClr>
                </a:solidFill>
              </a:rPr>
              <a:t>ANALYSIS OF DATA</a:t>
            </a:r>
          </a:p>
        </p:txBody>
      </p:sp>
      <p:pic>
        <p:nvPicPr>
          <p:cNvPr id="3" name="Picture 2">
            <a:extLst>
              <a:ext uri="{FF2B5EF4-FFF2-40B4-BE49-F238E27FC236}">
                <a16:creationId xmlns:a16="http://schemas.microsoft.com/office/drawing/2014/main" id="{A229199D-1B0E-482F-A465-89FC028DB5AB}"/>
              </a:ext>
            </a:extLst>
          </p:cNvPr>
          <p:cNvPicPr>
            <a:picLocks noChangeAspect="1"/>
          </p:cNvPicPr>
          <p:nvPr/>
        </p:nvPicPr>
        <p:blipFill>
          <a:blip r:embed="rId2"/>
          <a:stretch>
            <a:fillRect/>
          </a:stretch>
        </p:blipFill>
        <p:spPr>
          <a:xfrm>
            <a:off x="6752492" y="3286143"/>
            <a:ext cx="5296500" cy="3274672"/>
          </a:xfrm>
          <a:prstGeom prst="rect">
            <a:avLst/>
          </a:prstGeom>
        </p:spPr>
      </p:pic>
      <p:pic>
        <p:nvPicPr>
          <p:cNvPr id="2052" name="Picture 4">
            <a:extLst>
              <a:ext uri="{FF2B5EF4-FFF2-40B4-BE49-F238E27FC236}">
                <a16:creationId xmlns:a16="http://schemas.microsoft.com/office/drawing/2014/main" id="{7DDBF841-FF67-4A08-9A76-B175B25DD7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931" y="1259498"/>
            <a:ext cx="5288673" cy="3274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476107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D9244B9F-1B56-471F-B9C7-8BA8E90A6AD4}"/>
              </a:ext>
            </a:extLst>
          </p:cNvPr>
          <p:cNvGraphicFramePr>
            <a:graphicFrameLocks/>
          </p:cNvGraphicFramePr>
          <p:nvPr>
            <p:extLst>
              <p:ext uri="{D42A27DB-BD31-4B8C-83A1-F6EECF244321}">
                <p14:modId xmlns:p14="http://schemas.microsoft.com/office/powerpoint/2010/main" val="2225222092"/>
              </p:ext>
            </p:extLst>
          </p:nvPr>
        </p:nvGraphicFramePr>
        <p:xfrm>
          <a:off x="624254" y="1218164"/>
          <a:ext cx="5565531" cy="407480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79E84902-36DA-47BC-86C5-A12DE5A700D9}"/>
              </a:ext>
            </a:extLst>
          </p:cNvPr>
          <p:cNvGraphicFramePr>
            <a:graphicFrameLocks/>
          </p:cNvGraphicFramePr>
          <p:nvPr>
            <p:extLst>
              <p:ext uri="{D42A27DB-BD31-4B8C-83A1-F6EECF244321}">
                <p14:modId xmlns:p14="http://schemas.microsoft.com/office/powerpoint/2010/main" val="2201215716"/>
              </p:ext>
            </p:extLst>
          </p:nvPr>
        </p:nvGraphicFramePr>
        <p:xfrm>
          <a:off x="6365631" y="1420386"/>
          <a:ext cx="5706207" cy="3670359"/>
        </p:xfrm>
        <a:graphic>
          <a:graphicData uri="http://schemas.openxmlformats.org/drawingml/2006/chart">
            <c:chart xmlns:c="http://schemas.openxmlformats.org/drawingml/2006/chart" xmlns:r="http://schemas.openxmlformats.org/officeDocument/2006/relationships" r:id="rId4"/>
          </a:graphicData>
        </a:graphic>
      </p:graphicFrame>
      <p:cxnSp>
        <p:nvCxnSpPr>
          <p:cNvPr id="7" name="Straight Connector 6">
            <a:extLst>
              <a:ext uri="{FF2B5EF4-FFF2-40B4-BE49-F238E27FC236}">
                <a16:creationId xmlns:a16="http://schemas.microsoft.com/office/drawing/2014/main" id="{334D1F4C-3ED1-4D8C-BA44-DBDA9BDED5F1}"/>
              </a:ext>
            </a:extLst>
          </p:cNvPr>
          <p:cNvCxnSpPr>
            <a:cxnSpLocks/>
          </p:cNvCxnSpPr>
          <p:nvPr/>
        </p:nvCxnSpPr>
        <p:spPr>
          <a:xfrm>
            <a:off x="6189785"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6C9EA711-8819-4EEC-A48F-B6E2A75E8FBA}"/>
              </a:ext>
            </a:extLst>
          </p:cNvPr>
          <p:cNvSpPr/>
          <p:nvPr/>
        </p:nvSpPr>
        <p:spPr>
          <a:xfrm>
            <a:off x="1151793" y="5697414"/>
            <a:ext cx="4141176" cy="571501"/>
          </a:xfrm>
          <a:prstGeom prst="rect">
            <a:avLst/>
          </a:prstGeom>
          <a:solidFill>
            <a:srgbClr val="ECF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Average number of hours :- </a:t>
            </a:r>
          </a:p>
          <a:p>
            <a:pPr algn="ctr"/>
            <a:r>
              <a:rPr lang="en-IN" dirty="0">
                <a:solidFill>
                  <a:schemeClr val="tx1"/>
                </a:solidFill>
              </a:rPr>
              <a:t>6-8(Lockdown),4-6(Post-lockdown) </a:t>
            </a:r>
          </a:p>
        </p:txBody>
      </p:sp>
      <p:sp>
        <p:nvSpPr>
          <p:cNvPr id="5" name="Rectangle 4">
            <a:extLst>
              <a:ext uri="{FF2B5EF4-FFF2-40B4-BE49-F238E27FC236}">
                <a16:creationId xmlns:a16="http://schemas.microsoft.com/office/drawing/2014/main" id="{1A1E6252-A200-4D70-AF84-18E997DFBD28}"/>
              </a:ext>
            </a:extLst>
          </p:cNvPr>
          <p:cNvSpPr/>
          <p:nvPr/>
        </p:nvSpPr>
        <p:spPr>
          <a:xfrm>
            <a:off x="6923948" y="5697414"/>
            <a:ext cx="4589571" cy="462025"/>
          </a:xfrm>
          <a:prstGeom prst="rect">
            <a:avLst/>
          </a:prstGeom>
          <a:solidFill>
            <a:srgbClr val="ECF2DD"/>
          </a:solidFill>
          <a:ln>
            <a:solidFill>
              <a:srgbClr val="ECF2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Average number of hours:-  0-2 for both</a:t>
            </a:r>
            <a:endParaRPr lang="en-IN" dirty="0"/>
          </a:p>
        </p:txBody>
      </p:sp>
    </p:spTree>
    <p:extLst>
      <p:ext uri="{BB962C8B-B14F-4D97-AF65-F5344CB8AC3E}">
        <p14:creationId xmlns:p14="http://schemas.microsoft.com/office/powerpoint/2010/main" val="3293051229"/>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9EA4414-DA93-4A89-80A9-4C9B784D085B}"/>
              </a:ext>
            </a:extLst>
          </p:cNvPr>
          <p:cNvCxnSpPr>
            <a:cxnSpLocks/>
          </p:cNvCxnSpPr>
          <p:nvPr/>
        </p:nvCxnSpPr>
        <p:spPr>
          <a:xfrm>
            <a:off x="6365631" y="0"/>
            <a:ext cx="0" cy="73679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 name="Chart 5">
            <a:extLst>
              <a:ext uri="{FF2B5EF4-FFF2-40B4-BE49-F238E27FC236}">
                <a16:creationId xmlns:a16="http://schemas.microsoft.com/office/drawing/2014/main" id="{98396D95-35F0-449E-8779-D8E339EF32C4}"/>
              </a:ext>
            </a:extLst>
          </p:cNvPr>
          <p:cNvGraphicFramePr>
            <a:graphicFrameLocks/>
          </p:cNvGraphicFramePr>
          <p:nvPr>
            <p:extLst>
              <p:ext uri="{D42A27DB-BD31-4B8C-83A1-F6EECF244321}">
                <p14:modId xmlns:p14="http://schemas.microsoft.com/office/powerpoint/2010/main" val="2412697365"/>
              </p:ext>
            </p:extLst>
          </p:nvPr>
        </p:nvGraphicFramePr>
        <p:xfrm>
          <a:off x="709251" y="1222131"/>
          <a:ext cx="5117119" cy="441373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38010716-AECB-4ABB-A996-E542037986EC}"/>
              </a:ext>
            </a:extLst>
          </p:cNvPr>
          <p:cNvGraphicFramePr>
            <a:graphicFrameLocks/>
          </p:cNvGraphicFramePr>
          <p:nvPr>
            <p:extLst>
              <p:ext uri="{D42A27DB-BD31-4B8C-83A1-F6EECF244321}">
                <p14:modId xmlns:p14="http://schemas.microsoft.com/office/powerpoint/2010/main" val="3582649644"/>
              </p:ext>
            </p:extLst>
          </p:nvPr>
        </p:nvGraphicFramePr>
        <p:xfrm>
          <a:off x="6550270" y="1142999"/>
          <a:ext cx="5407265" cy="4492869"/>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030EB85A-A166-4E20-9575-2DAF27F5E6AD}"/>
              </a:ext>
            </a:extLst>
          </p:cNvPr>
          <p:cNvSpPr/>
          <p:nvPr/>
        </p:nvSpPr>
        <p:spPr>
          <a:xfrm>
            <a:off x="1151792" y="5697414"/>
            <a:ext cx="4158759" cy="462025"/>
          </a:xfrm>
          <a:prstGeom prst="rect">
            <a:avLst/>
          </a:prstGeom>
          <a:solidFill>
            <a:srgbClr val="ECF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Average number of hours :- </a:t>
            </a:r>
          </a:p>
          <a:p>
            <a:pPr algn="ctr"/>
            <a:r>
              <a:rPr lang="en-IN" dirty="0">
                <a:solidFill>
                  <a:schemeClr val="tx1"/>
                </a:solidFill>
              </a:rPr>
              <a:t>4-6 for both</a:t>
            </a:r>
          </a:p>
        </p:txBody>
      </p:sp>
      <p:sp>
        <p:nvSpPr>
          <p:cNvPr id="8" name="Rectangle 7">
            <a:extLst>
              <a:ext uri="{FF2B5EF4-FFF2-40B4-BE49-F238E27FC236}">
                <a16:creationId xmlns:a16="http://schemas.microsoft.com/office/drawing/2014/main" id="{FD49FD25-E014-4F03-B6A4-58B2ED5B78B5}"/>
              </a:ext>
            </a:extLst>
          </p:cNvPr>
          <p:cNvSpPr/>
          <p:nvPr/>
        </p:nvSpPr>
        <p:spPr>
          <a:xfrm>
            <a:off x="6904893" y="5697413"/>
            <a:ext cx="4492865" cy="462025"/>
          </a:xfrm>
          <a:prstGeom prst="rect">
            <a:avLst/>
          </a:prstGeom>
          <a:solidFill>
            <a:srgbClr val="ECF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On an average is :- 3(online) ,4(offline) </a:t>
            </a:r>
          </a:p>
        </p:txBody>
      </p:sp>
    </p:spTree>
    <p:extLst>
      <p:ext uri="{BB962C8B-B14F-4D97-AF65-F5344CB8AC3E}">
        <p14:creationId xmlns:p14="http://schemas.microsoft.com/office/powerpoint/2010/main" val="234570143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3CE0CF3-7134-4AE4-B886-0FB521DD2E32}"/>
              </a:ext>
            </a:extLst>
          </p:cNvPr>
          <p:cNvSpPr/>
          <p:nvPr/>
        </p:nvSpPr>
        <p:spPr>
          <a:xfrm>
            <a:off x="981882" y="13189"/>
            <a:ext cx="4482164" cy="606669"/>
          </a:xfrm>
          <a:prstGeom prst="rect">
            <a:avLst/>
          </a:prstGeom>
          <a:solidFill>
            <a:schemeClr val="accent5">
              <a:lumMod val="20000"/>
              <a:lumOff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OPINION ON SMARTPHONE USAGE:-</a:t>
            </a:r>
          </a:p>
        </p:txBody>
      </p:sp>
      <p:pic>
        <p:nvPicPr>
          <p:cNvPr id="3" name="Picture 2">
            <a:extLst>
              <a:ext uri="{FF2B5EF4-FFF2-40B4-BE49-F238E27FC236}">
                <a16:creationId xmlns:a16="http://schemas.microsoft.com/office/drawing/2014/main" id="{338379D4-B432-4283-B884-D8CBB2992A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7956" y="105507"/>
            <a:ext cx="4913182" cy="303777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a:extLst>
              <a:ext uri="{FF2B5EF4-FFF2-40B4-BE49-F238E27FC236}">
                <a16:creationId xmlns:a16="http://schemas.microsoft.com/office/drawing/2014/main" id="{9B234EE2-60EB-42DE-9138-BE3A827956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1882" y="3143284"/>
            <a:ext cx="4913183" cy="3037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3595018"/>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320FA-A2B3-49B8-9F5E-46FF260299F2}"/>
              </a:ext>
            </a:extLst>
          </p:cNvPr>
          <p:cNvSpPr>
            <a:spLocks noGrp="1"/>
          </p:cNvSpPr>
          <p:nvPr>
            <p:ph type="title"/>
          </p:nvPr>
        </p:nvSpPr>
        <p:spPr>
          <a:xfrm>
            <a:off x="307730" y="-157747"/>
            <a:ext cx="8985737" cy="1899138"/>
          </a:xfrm>
        </p:spPr>
        <p:txBody>
          <a:bodyPr>
            <a:normAutofit fontScale="90000"/>
          </a:bodyPr>
          <a:lstStyle/>
          <a:p>
            <a:r>
              <a:rPr lang="en-IN" sz="2000" b="1" dirty="0">
                <a:solidFill>
                  <a:schemeClr val="accent5">
                    <a:lumMod val="75000"/>
                  </a:schemeClr>
                </a:solidFill>
              </a:rPr>
              <a:t>TO STUDY SIGNIFICANCE DIFFERENCE BETWEEN AVERAGE NUMBER OF HOURS SPENT ON MOBILE PHONE DURING LOCKDOWN AND POST-LOCKDOWN.</a:t>
            </a:r>
            <a:br>
              <a:rPr lang="en-IN" sz="2000" b="1" dirty="0">
                <a:solidFill>
                  <a:schemeClr val="accent5">
                    <a:lumMod val="75000"/>
                  </a:schemeClr>
                </a:solidFill>
              </a:rPr>
            </a:br>
            <a:r>
              <a:rPr lang="en-IN" sz="2000" b="1" dirty="0">
                <a:solidFill>
                  <a:srgbClr val="7030A0"/>
                </a:solidFill>
              </a:rPr>
              <a:t>               </a:t>
            </a:r>
            <a:br>
              <a:rPr lang="en-IN" sz="2000" b="1" dirty="0">
                <a:solidFill>
                  <a:schemeClr val="accent5">
                    <a:lumMod val="75000"/>
                  </a:schemeClr>
                </a:solidFill>
              </a:rPr>
            </a:br>
            <a:r>
              <a:rPr lang="en-IN" sz="2000" b="1" dirty="0">
                <a:solidFill>
                  <a:schemeClr val="tx1"/>
                </a:solidFill>
              </a:rPr>
              <a:t>Ho: There is no significant difference between the average number of hours spent on mobile phone during lockdown and post-lockdown.</a:t>
            </a:r>
            <a:br>
              <a:rPr lang="en-IN" sz="2000" b="1" dirty="0">
                <a:solidFill>
                  <a:schemeClr val="tx1"/>
                </a:solidFill>
              </a:rPr>
            </a:br>
            <a:r>
              <a:rPr lang="en-IN" sz="2000" b="1" dirty="0">
                <a:solidFill>
                  <a:schemeClr val="tx1"/>
                </a:solidFill>
              </a:rPr>
              <a:t>H1: Not Ho.</a:t>
            </a:r>
            <a:endParaRPr lang="en-IN" sz="2000" b="1" dirty="0">
              <a:solidFill>
                <a:schemeClr val="accent5">
                  <a:lumMod val="75000"/>
                </a:schemeClr>
              </a:solidFill>
            </a:endParaRPr>
          </a:p>
        </p:txBody>
      </p:sp>
      <p:graphicFrame>
        <p:nvGraphicFramePr>
          <p:cNvPr id="5" name="Table 4">
            <a:extLst>
              <a:ext uri="{FF2B5EF4-FFF2-40B4-BE49-F238E27FC236}">
                <a16:creationId xmlns:a16="http://schemas.microsoft.com/office/drawing/2014/main" id="{87203F72-217A-42FB-9F6D-6081427E8443}"/>
              </a:ext>
            </a:extLst>
          </p:cNvPr>
          <p:cNvGraphicFramePr>
            <a:graphicFrameLocks noGrp="1"/>
          </p:cNvGraphicFramePr>
          <p:nvPr>
            <p:extLst>
              <p:ext uri="{D42A27DB-BD31-4B8C-83A1-F6EECF244321}">
                <p14:modId xmlns:p14="http://schemas.microsoft.com/office/powerpoint/2010/main" val="2527069342"/>
              </p:ext>
            </p:extLst>
          </p:nvPr>
        </p:nvGraphicFramePr>
        <p:xfrm>
          <a:off x="641838" y="2233246"/>
          <a:ext cx="4158761" cy="1055077"/>
        </p:xfrm>
        <a:graphic>
          <a:graphicData uri="http://schemas.openxmlformats.org/drawingml/2006/table">
            <a:tbl>
              <a:tblPr/>
              <a:tblGrid>
                <a:gridCol w="3005529">
                  <a:extLst>
                    <a:ext uri="{9D8B030D-6E8A-4147-A177-3AD203B41FA5}">
                      <a16:colId xmlns:a16="http://schemas.microsoft.com/office/drawing/2014/main" val="2930687887"/>
                    </a:ext>
                  </a:extLst>
                </a:gridCol>
                <a:gridCol w="1153232">
                  <a:extLst>
                    <a:ext uri="{9D8B030D-6E8A-4147-A177-3AD203B41FA5}">
                      <a16:colId xmlns:a16="http://schemas.microsoft.com/office/drawing/2014/main" val="2881540050"/>
                    </a:ext>
                  </a:extLst>
                </a:gridCol>
              </a:tblGrid>
              <a:tr h="229744">
                <a:tc>
                  <a:txBody>
                    <a:bodyPr/>
                    <a:lstStyle/>
                    <a:p>
                      <a:pPr algn="l" fontAlgn="b"/>
                      <a:r>
                        <a:rPr lang="en-IN" sz="1400" b="1" i="0" u="none" strike="noStrike" dirty="0">
                          <a:solidFill>
                            <a:schemeClr val="accent1"/>
                          </a:solidFill>
                          <a:effectLst/>
                          <a:latin typeface="Arial" panose="020B0604020202020204" pitchFamily="34" charset="0"/>
                        </a:rPr>
                        <a:t>mean difference </a:t>
                      </a:r>
                    </a:p>
                  </a:txBody>
                  <a:tcPr marL="7620" marR="7620" marT="7620" marB="0" anchor="b">
                    <a:lnL>
                      <a:noFill/>
                    </a:lnL>
                    <a:lnR>
                      <a:noFill/>
                    </a:lnR>
                    <a:lnT>
                      <a:noFill/>
                    </a:lnT>
                    <a:lnB>
                      <a:noFill/>
                    </a:lnB>
                  </a:tcPr>
                </a:tc>
                <a:tc>
                  <a:txBody>
                    <a:bodyPr/>
                    <a:lstStyle/>
                    <a:p>
                      <a:pPr algn="r" fontAlgn="b"/>
                      <a:r>
                        <a:rPr lang="en-IN" sz="1400" b="1" i="0" u="none" strike="noStrike" dirty="0">
                          <a:solidFill>
                            <a:schemeClr val="accent1"/>
                          </a:solidFill>
                          <a:effectLst/>
                          <a:latin typeface="Arial" panose="020B0604020202020204" pitchFamily="34" charset="0"/>
                        </a:rPr>
                        <a:t>1.21</a:t>
                      </a:r>
                    </a:p>
                  </a:txBody>
                  <a:tcPr marL="7620" marR="7620" marT="7620" marB="0" anchor="b">
                    <a:lnL>
                      <a:noFill/>
                    </a:lnL>
                    <a:lnR>
                      <a:noFill/>
                    </a:lnR>
                    <a:lnT>
                      <a:noFill/>
                    </a:lnT>
                    <a:lnB>
                      <a:noFill/>
                    </a:lnB>
                  </a:tcPr>
                </a:tc>
                <a:extLst>
                  <a:ext uri="{0D108BD9-81ED-4DB2-BD59-A6C34878D82A}">
                    <a16:rowId xmlns:a16="http://schemas.microsoft.com/office/drawing/2014/main" val="2799673211"/>
                  </a:ext>
                </a:extLst>
              </a:tr>
              <a:tr h="218286">
                <a:tc>
                  <a:txBody>
                    <a:bodyPr/>
                    <a:lstStyle/>
                    <a:p>
                      <a:pPr algn="l" fontAlgn="b"/>
                      <a:r>
                        <a:rPr lang="en-IN" sz="1400" b="1" i="0" u="none" strike="noStrike" dirty="0">
                          <a:solidFill>
                            <a:schemeClr val="accent1"/>
                          </a:solidFill>
                          <a:effectLst/>
                          <a:latin typeface="Arial" panose="020B0604020202020204" pitchFamily="34" charset="0"/>
                        </a:rPr>
                        <a:t>S.D difference </a:t>
                      </a:r>
                    </a:p>
                  </a:txBody>
                  <a:tcPr marL="7620" marR="7620" marT="7620" marB="0" anchor="b">
                    <a:lnL>
                      <a:noFill/>
                    </a:lnL>
                    <a:lnR>
                      <a:noFill/>
                    </a:lnR>
                    <a:lnT>
                      <a:noFill/>
                    </a:lnT>
                    <a:lnB>
                      <a:noFill/>
                    </a:lnB>
                  </a:tcPr>
                </a:tc>
                <a:tc>
                  <a:txBody>
                    <a:bodyPr/>
                    <a:lstStyle/>
                    <a:p>
                      <a:pPr algn="r" fontAlgn="b"/>
                      <a:r>
                        <a:rPr lang="en-IN" sz="1400" b="1" i="0" u="none" strike="noStrike">
                          <a:solidFill>
                            <a:schemeClr val="accent1"/>
                          </a:solidFill>
                          <a:effectLst/>
                          <a:latin typeface="Arial" panose="020B0604020202020204" pitchFamily="34" charset="0"/>
                        </a:rPr>
                        <a:t>0.298741</a:t>
                      </a:r>
                    </a:p>
                  </a:txBody>
                  <a:tcPr marL="7620" marR="7620" marT="7620" marB="0" anchor="b">
                    <a:lnL>
                      <a:noFill/>
                    </a:lnL>
                    <a:lnR>
                      <a:noFill/>
                    </a:lnR>
                    <a:lnT>
                      <a:noFill/>
                    </a:lnT>
                    <a:lnB>
                      <a:noFill/>
                    </a:lnB>
                  </a:tcPr>
                </a:tc>
                <a:extLst>
                  <a:ext uri="{0D108BD9-81ED-4DB2-BD59-A6C34878D82A}">
                    <a16:rowId xmlns:a16="http://schemas.microsoft.com/office/drawing/2014/main" val="972230415"/>
                  </a:ext>
                </a:extLst>
              </a:tr>
              <a:tr h="296871">
                <a:tc>
                  <a:txBody>
                    <a:bodyPr/>
                    <a:lstStyle/>
                    <a:p>
                      <a:pPr algn="l" fontAlgn="b"/>
                      <a:r>
                        <a:rPr lang="en-IN" sz="1400" b="1" i="0" u="none" strike="noStrike" dirty="0">
                          <a:solidFill>
                            <a:schemeClr val="accent1"/>
                          </a:solidFill>
                          <a:effectLst/>
                          <a:latin typeface="Arial" panose="020B0604020202020204" pitchFamily="34" charset="0"/>
                        </a:rPr>
                        <a:t>standard error of difference </a:t>
                      </a:r>
                    </a:p>
                  </a:txBody>
                  <a:tcPr marL="7620" marR="7620" marT="7620" marB="0" anchor="b">
                    <a:lnL>
                      <a:noFill/>
                    </a:lnL>
                    <a:lnR>
                      <a:noFill/>
                    </a:lnR>
                    <a:lnT>
                      <a:noFill/>
                    </a:lnT>
                    <a:lnB>
                      <a:noFill/>
                    </a:lnB>
                  </a:tcPr>
                </a:tc>
                <a:tc>
                  <a:txBody>
                    <a:bodyPr/>
                    <a:lstStyle/>
                    <a:p>
                      <a:pPr algn="r" fontAlgn="b"/>
                      <a:r>
                        <a:rPr lang="en-IN" sz="1400" b="1" i="0" u="none" strike="noStrike">
                          <a:solidFill>
                            <a:schemeClr val="accent1"/>
                          </a:solidFill>
                          <a:effectLst/>
                          <a:latin typeface="Arial" panose="020B0604020202020204" pitchFamily="34" charset="0"/>
                        </a:rPr>
                        <a:t>0.029874</a:t>
                      </a:r>
                    </a:p>
                  </a:txBody>
                  <a:tcPr marL="7620" marR="7620" marT="7620" marB="0" anchor="b">
                    <a:lnL>
                      <a:noFill/>
                    </a:lnL>
                    <a:lnR>
                      <a:noFill/>
                    </a:lnR>
                    <a:lnT>
                      <a:noFill/>
                    </a:lnT>
                    <a:lnB>
                      <a:noFill/>
                    </a:lnB>
                  </a:tcPr>
                </a:tc>
                <a:extLst>
                  <a:ext uri="{0D108BD9-81ED-4DB2-BD59-A6C34878D82A}">
                    <a16:rowId xmlns:a16="http://schemas.microsoft.com/office/drawing/2014/main" val="591387255"/>
                  </a:ext>
                </a:extLst>
              </a:tr>
              <a:tr h="307482">
                <a:tc>
                  <a:txBody>
                    <a:bodyPr/>
                    <a:lstStyle/>
                    <a:p>
                      <a:pPr algn="l" fontAlgn="b"/>
                      <a:r>
                        <a:rPr lang="en-IN" sz="1400" b="1" i="0" u="none" strike="noStrike" dirty="0">
                          <a:solidFill>
                            <a:schemeClr val="accent1"/>
                          </a:solidFill>
                          <a:effectLst/>
                          <a:latin typeface="Arial" panose="020B0604020202020204" pitchFamily="34" charset="0"/>
                        </a:rPr>
                        <a:t>t alpha half 90% </a:t>
                      </a:r>
                      <a:r>
                        <a:rPr lang="el-GR" sz="1400" b="1" i="0" u="none" strike="noStrike" dirty="0">
                          <a:solidFill>
                            <a:schemeClr val="accent1"/>
                          </a:solidFill>
                          <a:effectLst/>
                          <a:latin typeface="Calibri" panose="020F0502020204030204" pitchFamily="34" charset="0"/>
                        </a:rPr>
                        <a:t>α</a:t>
                      </a:r>
                      <a:endParaRPr lang="el-GR" sz="1400" b="1" i="0" u="none" strike="noStrike" dirty="0">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r" fontAlgn="b"/>
                      <a:r>
                        <a:rPr lang="en-IN" sz="1400" b="1" i="0" u="none" strike="noStrike" dirty="0">
                          <a:solidFill>
                            <a:schemeClr val="accent1"/>
                          </a:solidFill>
                          <a:effectLst/>
                          <a:latin typeface="Arial" panose="020B0604020202020204" pitchFamily="34" charset="0"/>
                        </a:rPr>
                        <a:t>1.98421</a:t>
                      </a:r>
                    </a:p>
                  </a:txBody>
                  <a:tcPr marL="7620" marR="7620" marT="7620" marB="0" anchor="b">
                    <a:lnL>
                      <a:noFill/>
                    </a:lnL>
                    <a:lnR>
                      <a:noFill/>
                    </a:lnR>
                    <a:lnT>
                      <a:noFill/>
                    </a:lnT>
                    <a:lnB>
                      <a:noFill/>
                    </a:lnB>
                  </a:tcPr>
                </a:tc>
                <a:extLst>
                  <a:ext uri="{0D108BD9-81ED-4DB2-BD59-A6C34878D82A}">
                    <a16:rowId xmlns:a16="http://schemas.microsoft.com/office/drawing/2014/main" val="2230708011"/>
                  </a:ext>
                </a:extLst>
              </a:tr>
            </a:tbl>
          </a:graphicData>
        </a:graphic>
      </p:graphicFrame>
      <p:graphicFrame>
        <p:nvGraphicFramePr>
          <p:cNvPr id="7" name="Table 6">
            <a:extLst>
              <a:ext uri="{FF2B5EF4-FFF2-40B4-BE49-F238E27FC236}">
                <a16:creationId xmlns:a16="http://schemas.microsoft.com/office/drawing/2014/main" id="{DCAEA4D8-462E-4C90-ACA6-5AF8F48AD3D9}"/>
              </a:ext>
            </a:extLst>
          </p:cNvPr>
          <p:cNvGraphicFramePr>
            <a:graphicFrameLocks noGrp="1"/>
          </p:cNvGraphicFramePr>
          <p:nvPr>
            <p:extLst>
              <p:ext uri="{D42A27DB-BD31-4B8C-83A1-F6EECF244321}">
                <p14:modId xmlns:p14="http://schemas.microsoft.com/office/powerpoint/2010/main" val="2002605057"/>
              </p:ext>
            </p:extLst>
          </p:nvPr>
        </p:nvGraphicFramePr>
        <p:xfrm>
          <a:off x="2611315" y="5253756"/>
          <a:ext cx="7142652" cy="1354602"/>
        </p:xfrm>
        <a:graphic>
          <a:graphicData uri="http://schemas.openxmlformats.org/drawingml/2006/table">
            <a:tbl>
              <a:tblPr/>
              <a:tblGrid>
                <a:gridCol w="1694352">
                  <a:extLst>
                    <a:ext uri="{9D8B030D-6E8A-4147-A177-3AD203B41FA5}">
                      <a16:colId xmlns:a16="http://schemas.microsoft.com/office/drawing/2014/main" val="3261742462"/>
                    </a:ext>
                  </a:extLst>
                </a:gridCol>
                <a:gridCol w="2438033">
                  <a:extLst>
                    <a:ext uri="{9D8B030D-6E8A-4147-A177-3AD203B41FA5}">
                      <a16:colId xmlns:a16="http://schemas.microsoft.com/office/drawing/2014/main" val="3704841882"/>
                    </a:ext>
                  </a:extLst>
                </a:gridCol>
                <a:gridCol w="1181467">
                  <a:extLst>
                    <a:ext uri="{9D8B030D-6E8A-4147-A177-3AD203B41FA5}">
                      <a16:colId xmlns:a16="http://schemas.microsoft.com/office/drawing/2014/main" val="2786652309"/>
                    </a:ext>
                  </a:extLst>
                </a:gridCol>
                <a:gridCol w="609600">
                  <a:extLst>
                    <a:ext uri="{9D8B030D-6E8A-4147-A177-3AD203B41FA5}">
                      <a16:colId xmlns:a16="http://schemas.microsoft.com/office/drawing/2014/main" val="1294685110"/>
                    </a:ext>
                  </a:extLst>
                </a:gridCol>
                <a:gridCol w="609600">
                  <a:extLst>
                    <a:ext uri="{9D8B030D-6E8A-4147-A177-3AD203B41FA5}">
                      <a16:colId xmlns:a16="http://schemas.microsoft.com/office/drawing/2014/main" val="3395811336"/>
                    </a:ext>
                  </a:extLst>
                </a:gridCol>
                <a:gridCol w="609600">
                  <a:extLst>
                    <a:ext uri="{9D8B030D-6E8A-4147-A177-3AD203B41FA5}">
                      <a16:colId xmlns:a16="http://schemas.microsoft.com/office/drawing/2014/main" val="3874583923"/>
                    </a:ext>
                  </a:extLst>
                </a:gridCol>
              </a:tblGrid>
              <a:tr h="307731">
                <a:tc>
                  <a:txBody>
                    <a:bodyPr/>
                    <a:lstStyle/>
                    <a:p>
                      <a:pPr algn="l" fontAlgn="b"/>
                      <a:r>
                        <a:rPr lang="en-IN" sz="1600" b="1" i="0" u="none" strike="noStrike" dirty="0">
                          <a:solidFill>
                            <a:schemeClr val="accent1"/>
                          </a:solidFill>
                          <a:effectLst/>
                          <a:latin typeface="Arial" panose="020B0604020202020204" pitchFamily="34" charset="0"/>
                        </a:rPr>
                        <a:t>Conclusion </a:t>
                      </a:r>
                    </a:p>
                  </a:txBody>
                  <a:tcPr marL="7620" marR="7620" marT="7620" marB="0" anchor="b">
                    <a:lnL>
                      <a:noFill/>
                    </a:lnL>
                    <a:lnR>
                      <a:noFill/>
                    </a:lnR>
                    <a:lnT>
                      <a:noFill/>
                    </a:lnT>
                    <a:lnB>
                      <a:noFill/>
                    </a:lnB>
                  </a:tcPr>
                </a:tc>
                <a:tc>
                  <a:txBody>
                    <a:bodyPr/>
                    <a:lstStyle/>
                    <a:p>
                      <a:pPr algn="l" fontAlgn="b"/>
                      <a:r>
                        <a:rPr lang="en-IN" sz="1600" b="1" i="0" u="none" strike="noStrike" dirty="0">
                          <a:solidFill>
                            <a:schemeClr val="accent1"/>
                          </a:solidFill>
                          <a:effectLst/>
                          <a:latin typeface="Arial" panose="020B0604020202020204" pitchFamily="34" charset="0"/>
                        </a:rPr>
                        <a:t>P-value is &lt; </a:t>
                      </a:r>
                      <a:r>
                        <a:rPr lang="el-GR" sz="1800" b="1" i="0" u="none" strike="noStrike" dirty="0">
                          <a:solidFill>
                            <a:schemeClr val="accent1"/>
                          </a:solidFill>
                          <a:effectLst/>
                          <a:latin typeface="Arial" panose="020B0604020202020204" pitchFamily="34" charset="0"/>
                        </a:rPr>
                        <a:t>α</a:t>
                      </a:r>
                      <a:r>
                        <a:rPr lang="en-IN" sz="1800" b="1" i="0" u="none" strike="noStrike" dirty="0">
                          <a:solidFill>
                            <a:schemeClr val="accent1"/>
                          </a:solidFill>
                          <a:effectLst/>
                          <a:latin typeface="Arial" panose="020B0604020202020204" pitchFamily="34" charset="0"/>
                        </a:rPr>
                        <a:t> = </a:t>
                      </a:r>
                      <a:r>
                        <a:rPr lang="en-IN" sz="1600" b="1" i="0" u="none" strike="noStrike" dirty="0">
                          <a:solidFill>
                            <a:schemeClr val="accent1"/>
                          </a:solidFill>
                          <a:effectLst/>
                          <a:latin typeface="Arial" panose="020B0604020202020204" pitchFamily="34" charset="0"/>
                        </a:rPr>
                        <a:t>0.05 </a:t>
                      </a:r>
                    </a:p>
                  </a:txBody>
                  <a:tcPr marL="7620" marR="7620" marT="7620" marB="0" anchor="b">
                    <a:lnL>
                      <a:noFill/>
                    </a:lnL>
                    <a:lnR>
                      <a:noFill/>
                    </a:lnR>
                    <a:lnT>
                      <a:noFill/>
                    </a:lnT>
                    <a:lnB>
                      <a:noFill/>
                    </a:lnB>
                  </a:tcPr>
                </a:tc>
                <a:tc>
                  <a:txBody>
                    <a:bodyPr/>
                    <a:lstStyle/>
                    <a:p>
                      <a:pPr algn="l" fontAlgn="b"/>
                      <a:endParaRPr lang="en-IN" sz="1000" b="0" i="0" u="none" strike="noStrike" dirty="0">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000" b="0" i="0" u="none" strike="noStrike" dirty="0">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000" b="0" i="0" u="none" strike="noStrike">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000" b="0" i="0" u="none" strike="noStrike">
                        <a:solidFill>
                          <a:srgbClr val="000000"/>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823142146"/>
                  </a:ext>
                </a:extLst>
              </a:tr>
              <a:tr h="307731">
                <a:tc>
                  <a:txBody>
                    <a:bodyPr/>
                    <a:lstStyle/>
                    <a:p>
                      <a:pPr algn="l" fontAlgn="b"/>
                      <a:endParaRPr lang="en-IN" sz="1600" b="1" i="0" u="none" strike="noStrike" dirty="0">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r>
                        <a:rPr lang="en-IN" sz="1600" b="1" i="0" u="none" strike="noStrike" dirty="0">
                          <a:solidFill>
                            <a:schemeClr val="accent1"/>
                          </a:solidFill>
                          <a:effectLst/>
                          <a:latin typeface="Arial" panose="020B0604020202020204" pitchFamily="34" charset="0"/>
                        </a:rPr>
                        <a:t>Therefore , we reject Ho</a:t>
                      </a:r>
                    </a:p>
                  </a:txBody>
                  <a:tcPr marL="7620" marR="7620" marT="7620" marB="0" anchor="b">
                    <a:lnL>
                      <a:noFill/>
                    </a:lnL>
                    <a:lnR>
                      <a:noFill/>
                    </a:lnR>
                    <a:lnT>
                      <a:noFill/>
                    </a:lnT>
                    <a:lnB>
                      <a:noFill/>
                    </a:lnB>
                  </a:tcPr>
                </a:tc>
                <a:tc>
                  <a:txBody>
                    <a:bodyPr/>
                    <a:lstStyle/>
                    <a:p>
                      <a:pPr algn="l" fontAlgn="b"/>
                      <a:endParaRPr lang="en-IN" sz="1000" b="0" i="0" u="none" strike="noStrike" dirty="0">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000" b="0" i="0" u="none" strike="noStrike">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000" b="0" i="0" u="none" strike="noStrike">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000" b="0" i="0" u="none" strike="noStrike">
                        <a:solidFill>
                          <a:srgbClr val="000000"/>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3427448333"/>
                  </a:ext>
                </a:extLst>
              </a:tr>
              <a:tr h="307731">
                <a:tc>
                  <a:txBody>
                    <a:bodyPr/>
                    <a:lstStyle/>
                    <a:p>
                      <a:pPr algn="l" fontAlgn="b"/>
                      <a:endParaRPr lang="en-IN" sz="1600" b="1" i="0" u="none" strike="noStrike" dirty="0">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tc gridSpan="5">
                  <a:txBody>
                    <a:bodyPr/>
                    <a:lstStyle/>
                    <a:p>
                      <a:pPr algn="l" fontAlgn="b"/>
                      <a:r>
                        <a:rPr lang="en-US" sz="1600" b="1" i="0" u="none" strike="noStrike" dirty="0">
                          <a:solidFill>
                            <a:schemeClr val="accent1"/>
                          </a:solidFill>
                          <a:effectLst/>
                          <a:latin typeface="Arial" panose="020B0604020202020204" pitchFamily="34" charset="0"/>
                        </a:rPr>
                        <a:t>Therefore there is significant difference between the average number of hours spent on mobile phone during lockdown and post-lockdown. </a:t>
                      </a:r>
                    </a:p>
                  </a:txBody>
                  <a:tcPr marL="7620" marR="7620" marT="7620" marB="0" anchor="b">
                    <a:lnL>
                      <a:noFill/>
                    </a:lnL>
                    <a:lnR>
                      <a:noFill/>
                    </a:lnR>
                    <a:lnT>
                      <a:noFill/>
                    </a:lnT>
                    <a:lnB>
                      <a:noFill/>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39512661"/>
                  </a:ext>
                </a:extLst>
              </a:tr>
            </a:tbl>
          </a:graphicData>
        </a:graphic>
      </p:graphicFrame>
      <p:graphicFrame>
        <p:nvGraphicFramePr>
          <p:cNvPr id="8" name="Table 7">
            <a:extLst>
              <a:ext uri="{FF2B5EF4-FFF2-40B4-BE49-F238E27FC236}">
                <a16:creationId xmlns:a16="http://schemas.microsoft.com/office/drawing/2014/main" id="{D3327BA8-6240-4833-A7C7-72AB3AD40DE6}"/>
              </a:ext>
            </a:extLst>
          </p:cNvPr>
          <p:cNvGraphicFramePr>
            <a:graphicFrameLocks noGrp="1"/>
          </p:cNvGraphicFramePr>
          <p:nvPr>
            <p:extLst>
              <p:ext uri="{D42A27DB-BD31-4B8C-83A1-F6EECF244321}">
                <p14:modId xmlns:p14="http://schemas.microsoft.com/office/powerpoint/2010/main" val="3229878292"/>
              </p:ext>
            </p:extLst>
          </p:nvPr>
        </p:nvGraphicFramePr>
        <p:xfrm>
          <a:off x="6344505" y="1533234"/>
          <a:ext cx="5308600" cy="2584922"/>
        </p:xfrm>
        <a:graphic>
          <a:graphicData uri="http://schemas.openxmlformats.org/drawingml/2006/table">
            <a:tbl>
              <a:tblPr/>
              <a:tblGrid>
                <a:gridCol w="1689100">
                  <a:extLst>
                    <a:ext uri="{9D8B030D-6E8A-4147-A177-3AD203B41FA5}">
                      <a16:colId xmlns:a16="http://schemas.microsoft.com/office/drawing/2014/main" val="3834123075"/>
                    </a:ext>
                  </a:extLst>
                </a:gridCol>
                <a:gridCol w="2032000">
                  <a:extLst>
                    <a:ext uri="{9D8B030D-6E8A-4147-A177-3AD203B41FA5}">
                      <a16:colId xmlns:a16="http://schemas.microsoft.com/office/drawing/2014/main" val="1801783197"/>
                    </a:ext>
                  </a:extLst>
                </a:gridCol>
                <a:gridCol w="1587500">
                  <a:extLst>
                    <a:ext uri="{9D8B030D-6E8A-4147-A177-3AD203B41FA5}">
                      <a16:colId xmlns:a16="http://schemas.microsoft.com/office/drawing/2014/main" val="419361750"/>
                    </a:ext>
                  </a:extLst>
                </a:gridCol>
              </a:tblGrid>
              <a:tr h="227551">
                <a:tc gridSpan="2">
                  <a:txBody>
                    <a:bodyPr/>
                    <a:lstStyle/>
                    <a:p>
                      <a:pPr algn="l" fontAlgn="b"/>
                      <a:r>
                        <a:rPr lang="en-US" sz="1400" b="1" i="0" u="none" strike="noStrike" dirty="0">
                          <a:solidFill>
                            <a:srgbClr val="000000"/>
                          </a:solidFill>
                          <a:effectLst/>
                          <a:latin typeface="Arial" panose="020B0604020202020204" pitchFamily="34" charset="0"/>
                        </a:rPr>
                        <a:t>t-Test</a:t>
                      </a:r>
                      <a:r>
                        <a:rPr lang="en-US" sz="1200" b="1" i="0" u="none" strike="noStrike" dirty="0">
                          <a:solidFill>
                            <a:srgbClr val="000000"/>
                          </a:solidFill>
                          <a:effectLst/>
                          <a:latin typeface="Arial" panose="020B0604020202020204" pitchFamily="34" charset="0"/>
                        </a:rPr>
                        <a:t>: </a:t>
                      </a:r>
                      <a:r>
                        <a:rPr lang="en-US" sz="1400" b="1" i="0" u="none" strike="noStrike" dirty="0">
                          <a:solidFill>
                            <a:srgbClr val="000000"/>
                          </a:solidFill>
                          <a:effectLst/>
                          <a:latin typeface="Arial" panose="020B0604020202020204" pitchFamily="34" charset="0"/>
                        </a:rPr>
                        <a:t>Paired Two Sample for Means</a:t>
                      </a:r>
                      <a:endParaRPr lang="en-US" sz="1200" b="1"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tc hMerge="1">
                  <a:txBody>
                    <a:bodyPr/>
                    <a:lstStyle/>
                    <a:p>
                      <a:endParaRPr lang="en-IN"/>
                    </a:p>
                  </a:txBody>
                  <a:tcPr/>
                </a:tc>
                <a:tc>
                  <a:txBody>
                    <a:bodyPr/>
                    <a:lstStyle/>
                    <a:p>
                      <a:pPr algn="l" fontAlgn="b"/>
                      <a:endParaRPr lang="en-IN" sz="1200" b="1" i="0" u="none" strike="noStrike">
                        <a:solidFill>
                          <a:srgbClr val="000000"/>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1850696959"/>
                  </a:ext>
                </a:extLst>
              </a:tr>
              <a:tr h="190501">
                <a:tc>
                  <a:txBody>
                    <a:bodyPr/>
                    <a:lstStyle/>
                    <a:p>
                      <a:pPr algn="l" fontAlgn="b"/>
                      <a:endParaRPr lang="en-IN" sz="1200" b="1"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IN" sz="1200" b="1"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IN" sz="1200" b="1" i="0" u="none" strike="noStrike">
                        <a:solidFill>
                          <a:srgbClr val="000000"/>
                        </a:solidFill>
                        <a:effectLst/>
                        <a:latin typeface="Arial" panose="020B060402020202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7105700"/>
                  </a:ext>
                </a:extLst>
              </a:tr>
              <a:tr h="801564">
                <a:tc>
                  <a:txBody>
                    <a:bodyPr/>
                    <a:lstStyle/>
                    <a:p>
                      <a:pPr algn="ctr" fontAlgn="b"/>
                      <a:r>
                        <a:rPr lang="en-IN" sz="1200" b="1" i="1" u="none" strike="noStrike" dirty="0">
                          <a:solidFill>
                            <a:srgbClr val="000000"/>
                          </a:solidFill>
                          <a:effectLst/>
                          <a:latin typeface="Arial" panose="020B0604020202020204" pitchFamily="34" charset="0"/>
                        </a:rPr>
                        <a:t> </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1" i="1" u="none" strike="noStrike" dirty="0">
                          <a:solidFill>
                            <a:srgbClr val="000000"/>
                          </a:solidFill>
                          <a:effectLst/>
                          <a:latin typeface="Arial" panose="020B0604020202020204" pitchFamily="34" charset="0"/>
                        </a:rPr>
                        <a:t>How many hours do you spend on your mobile phone during ? [Lockdown]</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1" i="1" u="none" strike="noStrike">
                          <a:solidFill>
                            <a:srgbClr val="000000"/>
                          </a:solidFill>
                          <a:effectLst/>
                          <a:latin typeface="Arial" panose="020B0604020202020204" pitchFamily="34" charset="0"/>
                        </a:rPr>
                        <a:t>How many hours do you spend on your mobile phone during ? [post-Lockdown]</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4606470"/>
                  </a:ext>
                </a:extLst>
              </a:tr>
              <a:tr h="227551">
                <a:tc>
                  <a:txBody>
                    <a:bodyPr/>
                    <a:lstStyle/>
                    <a:p>
                      <a:pPr algn="l" fontAlgn="b"/>
                      <a:r>
                        <a:rPr lang="en-IN" sz="1200" b="1" i="0" u="none" strike="noStrike">
                          <a:solidFill>
                            <a:srgbClr val="000000"/>
                          </a:solidFill>
                          <a:effectLst/>
                          <a:latin typeface="Arial" panose="020B0604020202020204" pitchFamily="34" charset="0"/>
                        </a:rPr>
                        <a:t>Mean</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IN" sz="1200" b="1" i="0" u="none" strike="noStrike" dirty="0">
                          <a:solidFill>
                            <a:srgbClr val="000000"/>
                          </a:solidFill>
                          <a:effectLst/>
                          <a:latin typeface="Arial" panose="020B0604020202020204" pitchFamily="34" charset="0"/>
                        </a:rPr>
                        <a:t>6.79</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IN" sz="1200" b="1" i="0" u="none" strike="noStrike">
                          <a:solidFill>
                            <a:srgbClr val="000000"/>
                          </a:solidFill>
                          <a:effectLst/>
                          <a:latin typeface="Arial" panose="020B0604020202020204" pitchFamily="34" charset="0"/>
                        </a:rPr>
                        <a:t>5.58</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109399227"/>
                  </a:ext>
                </a:extLst>
              </a:tr>
              <a:tr h="227551">
                <a:tc>
                  <a:txBody>
                    <a:bodyPr/>
                    <a:lstStyle/>
                    <a:p>
                      <a:pPr algn="l" fontAlgn="b"/>
                      <a:r>
                        <a:rPr lang="en-IN" sz="1200" b="1" i="0" u="none" strike="noStrike">
                          <a:solidFill>
                            <a:srgbClr val="000000"/>
                          </a:solidFill>
                          <a:effectLst/>
                          <a:latin typeface="Arial" panose="020B0604020202020204" pitchFamily="34" charset="0"/>
                        </a:rPr>
                        <a:t>Variance</a:t>
                      </a:r>
                    </a:p>
                  </a:txBody>
                  <a:tcPr marL="7620" marR="7620" marT="7620" marB="0" anchor="b">
                    <a:lnL>
                      <a:noFill/>
                    </a:lnL>
                    <a:lnR>
                      <a:noFill/>
                    </a:lnR>
                    <a:lnT>
                      <a:noFill/>
                    </a:lnT>
                    <a:lnB>
                      <a:noFill/>
                    </a:lnB>
                  </a:tcPr>
                </a:tc>
                <a:tc>
                  <a:txBody>
                    <a:bodyPr/>
                    <a:lstStyle/>
                    <a:p>
                      <a:pPr algn="r" fontAlgn="b"/>
                      <a:r>
                        <a:rPr lang="en-IN" sz="1200" b="1" i="0" u="none" strike="noStrike" dirty="0">
                          <a:solidFill>
                            <a:srgbClr val="000000"/>
                          </a:solidFill>
                          <a:effectLst/>
                          <a:latin typeface="Arial" panose="020B0604020202020204" pitchFamily="34" charset="0"/>
                        </a:rPr>
                        <a:t>2.692828283</a:t>
                      </a:r>
                    </a:p>
                  </a:txBody>
                  <a:tcPr marL="7620" marR="7620" marT="7620" marB="0" anchor="b">
                    <a:lnL>
                      <a:noFill/>
                    </a:lnL>
                    <a:lnR>
                      <a:noFill/>
                    </a:lnR>
                    <a:lnT>
                      <a:noFill/>
                    </a:lnT>
                    <a:lnB>
                      <a:noFill/>
                    </a:lnB>
                  </a:tcPr>
                </a:tc>
                <a:tc>
                  <a:txBody>
                    <a:bodyPr/>
                    <a:lstStyle/>
                    <a:p>
                      <a:pPr algn="r" fontAlgn="b"/>
                      <a:r>
                        <a:rPr lang="en-IN" sz="1200" b="1" i="0" u="none" strike="noStrike">
                          <a:solidFill>
                            <a:srgbClr val="000000"/>
                          </a:solidFill>
                          <a:effectLst/>
                          <a:latin typeface="Arial" panose="020B0604020202020204" pitchFamily="34" charset="0"/>
                        </a:rPr>
                        <a:t>1.801616162</a:t>
                      </a:r>
                      <a:endParaRPr lang="en-IN" sz="1200" b="1"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3889850732"/>
                  </a:ext>
                </a:extLst>
              </a:tr>
              <a:tr h="227551">
                <a:tc>
                  <a:txBody>
                    <a:bodyPr/>
                    <a:lstStyle/>
                    <a:p>
                      <a:pPr algn="l" fontAlgn="b"/>
                      <a:r>
                        <a:rPr lang="en-IN" sz="1200" b="1" i="0" u="none" strike="noStrike">
                          <a:solidFill>
                            <a:srgbClr val="000000"/>
                          </a:solidFill>
                          <a:effectLst/>
                          <a:latin typeface="Arial" panose="020B0604020202020204" pitchFamily="34" charset="0"/>
                        </a:rPr>
                        <a:t>Observations</a:t>
                      </a:r>
                    </a:p>
                  </a:txBody>
                  <a:tcPr marL="7620" marR="7620" marT="7620" marB="0" anchor="b">
                    <a:lnL>
                      <a:noFill/>
                    </a:lnL>
                    <a:lnR>
                      <a:noFill/>
                    </a:lnR>
                    <a:lnT>
                      <a:noFill/>
                    </a:lnT>
                    <a:lnB>
                      <a:noFill/>
                    </a:lnB>
                  </a:tcPr>
                </a:tc>
                <a:tc>
                  <a:txBody>
                    <a:bodyPr/>
                    <a:lstStyle/>
                    <a:p>
                      <a:pPr algn="r" fontAlgn="b"/>
                      <a:r>
                        <a:rPr lang="en-IN" sz="1200" b="1" i="0" u="none" strike="noStrike" dirty="0">
                          <a:solidFill>
                            <a:srgbClr val="000000"/>
                          </a:solidFill>
                          <a:effectLst/>
                          <a:latin typeface="Arial" panose="020B0604020202020204" pitchFamily="34" charset="0"/>
                        </a:rPr>
                        <a:t>100</a:t>
                      </a:r>
                    </a:p>
                  </a:txBody>
                  <a:tcPr marL="7620" marR="7620" marT="7620" marB="0" anchor="b">
                    <a:lnL>
                      <a:noFill/>
                    </a:lnL>
                    <a:lnR>
                      <a:noFill/>
                    </a:lnR>
                    <a:lnT>
                      <a:noFill/>
                    </a:lnT>
                    <a:lnB>
                      <a:noFill/>
                    </a:lnB>
                  </a:tcPr>
                </a:tc>
                <a:tc>
                  <a:txBody>
                    <a:bodyPr/>
                    <a:lstStyle/>
                    <a:p>
                      <a:pPr algn="r" fontAlgn="b"/>
                      <a:r>
                        <a:rPr lang="en-IN" sz="1200" b="1" i="0" u="none" strike="noStrike">
                          <a:solidFill>
                            <a:srgbClr val="000000"/>
                          </a:solidFill>
                          <a:effectLst/>
                          <a:latin typeface="Arial" panose="020B0604020202020204" pitchFamily="34" charset="0"/>
                        </a:rPr>
                        <a:t>100</a:t>
                      </a:r>
                      <a:endParaRPr lang="en-IN" sz="1200" b="1"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244147417"/>
                  </a:ext>
                </a:extLst>
              </a:tr>
              <a:tr h="227551">
                <a:tc>
                  <a:txBody>
                    <a:bodyPr/>
                    <a:lstStyle/>
                    <a:p>
                      <a:pPr algn="l" fontAlgn="b"/>
                      <a:r>
                        <a:rPr lang="en-IN" sz="1200" b="1" i="0" u="none" strike="noStrike">
                          <a:solidFill>
                            <a:srgbClr val="000000"/>
                          </a:solidFill>
                          <a:effectLst/>
                          <a:latin typeface="Arial" panose="020B0604020202020204" pitchFamily="34" charset="0"/>
                        </a:rPr>
                        <a:t>t Stat</a:t>
                      </a:r>
                    </a:p>
                  </a:txBody>
                  <a:tcPr marL="7620" marR="7620" marT="7620" marB="0" anchor="b">
                    <a:lnL>
                      <a:noFill/>
                    </a:lnL>
                    <a:lnR>
                      <a:noFill/>
                    </a:lnR>
                    <a:lnT>
                      <a:noFill/>
                    </a:lnT>
                    <a:lnB>
                      <a:noFill/>
                    </a:lnB>
                  </a:tcPr>
                </a:tc>
                <a:tc>
                  <a:txBody>
                    <a:bodyPr/>
                    <a:lstStyle/>
                    <a:p>
                      <a:pPr algn="r" fontAlgn="b"/>
                      <a:r>
                        <a:rPr lang="en-IN" sz="1200" b="1" i="0" u="none" strike="noStrike" dirty="0">
                          <a:solidFill>
                            <a:srgbClr val="000000"/>
                          </a:solidFill>
                          <a:effectLst/>
                          <a:latin typeface="Arial" panose="020B0604020202020204" pitchFamily="34" charset="0"/>
                        </a:rPr>
                        <a:t>8.143063521</a:t>
                      </a:r>
                    </a:p>
                  </a:txBody>
                  <a:tcPr marL="7620" marR="7620" marT="7620" marB="0" anchor="b">
                    <a:lnL>
                      <a:noFill/>
                    </a:lnL>
                    <a:lnR>
                      <a:noFill/>
                    </a:lnR>
                    <a:lnT>
                      <a:noFill/>
                    </a:lnT>
                    <a:lnB>
                      <a:noFill/>
                    </a:lnB>
                  </a:tcPr>
                </a:tc>
                <a:tc>
                  <a:txBody>
                    <a:bodyPr/>
                    <a:lstStyle/>
                    <a:p>
                      <a:pPr algn="l" fontAlgn="b"/>
                      <a:endParaRPr lang="en-IN" sz="1200" b="1"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1539667083"/>
                  </a:ext>
                </a:extLst>
              </a:tr>
              <a:tr h="227551">
                <a:tc>
                  <a:txBody>
                    <a:bodyPr/>
                    <a:lstStyle/>
                    <a:p>
                      <a:pPr algn="l" fontAlgn="b"/>
                      <a:r>
                        <a:rPr lang="en-IN" sz="1200" b="1" i="0" u="none" strike="noStrike">
                          <a:solidFill>
                            <a:srgbClr val="000000"/>
                          </a:solidFill>
                          <a:effectLst/>
                          <a:latin typeface="Arial" panose="020B0604020202020204" pitchFamily="34" charset="0"/>
                        </a:rPr>
                        <a:t>P(T&lt;=t) two-tail</a:t>
                      </a:r>
                    </a:p>
                  </a:txBody>
                  <a:tcPr marL="7620" marR="7620" marT="7620" marB="0" anchor="b">
                    <a:lnL>
                      <a:noFill/>
                    </a:lnL>
                    <a:lnR>
                      <a:noFill/>
                    </a:lnR>
                    <a:lnT>
                      <a:noFill/>
                    </a:lnT>
                    <a:lnB>
                      <a:noFill/>
                    </a:lnB>
                  </a:tcPr>
                </a:tc>
                <a:tc>
                  <a:txBody>
                    <a:bodyPr/>
                    <a:lstStyle/>
                    <a:p>
                      <a:pPr algn="r" fontAlgn="b"/>
                      <a:r>
                        <a:rPr lang="en-IN" sz="1200" b="1" i="0" u="none" strike="noStrike" dirty="0">
                          <a:solidFill>
                            <a:srgbClr val="000000"/>
                          </a:solidFill>
                          <a:effectLst/>
                          <a:latin typeface="Arial" panose="020B0604020202020204" pitchFamily="34" charset="0"/>
                        </a:rPr>
                        <a:t>1.1841E-12</a:t>
                      </a:r>
                    </a:p>
                  </a:txBody>
                  <a:tcPr marL="7620" marR="7620" marT="7620" marB="0" anchor="b">
                    <a:lnL>
                      <a:noFill/>
                    </a:lnL>
                    <a:lnR>
                      <a:noFill/>
                    </a:lnR>
                    <a:lnT>
                      <a:noFill/>
                    </a:lnT>
                    <a:lnB>
                      <a:noFill/>
                    </a:lnB>
                  </a:tcPr>
                </a:tc>
                <a:tc>
                  <a:txBody>
                    <a:bodyPr/>
                    <a:lstStyle/>
                    <a:p>
                      <a:pPr algn="l" fontAlgn="b"/>
                      <a:endParaRPr lang="en-IN" sz="1200" b="1"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3821294896"/>
                  </a:ext>
                </a:extLst>
              </a:tr>
              <a:tr h="227551">
                <a:tc>
                  <a:txBody>
                    <a:bodyPr/>
                    <a:lstStyle/>
                    <a:p>
                      <a:pPr algn="l" fontAlgn="b"/>
                      <a:r>
                        <a:rPr lang="en-IN" sz="1200" b="1" i="0" u="none" strike="noStrike">
                          <a:solidFill>
                            <a:srgbClr val="000000"/>
                          </a:solidFill>
                          <a:effectLst/>
                          <a:latin typeface="Arial" panose="020B0604020202020204" pitchFamily="34" charset="0"/>
                        </a:rPr>
                        <a:t>t Critical two-tail</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IN" sz="1200" b="1" i="0" u="none" strike="noStrike" dirty="0">
                          <a:solidFill>
                            <a:srgbClr val="000000"/>
                          </a:solidFill>
                          <a:effectLst/>
                          <a:latin typeface="Arial" panose="020B0604020202020204" pitchFamily="34" charset="0"/>
                        </a:rPr>
                        <a:t>1.984216952</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IN" sz="1200" b="1"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4189757794"/>
                  </a:ext>
                </a:extLst>
              </a:tr>
            </a:tbl>
          </a:graphicData>
        </a:graphic>
      </p:graphicFrame>
    </p:spTree>
    <p:extLst>
      <p:ext uri="{BB962C8B-B14F-4D97-AF65-F5344CB8AC3E}">
        <p14:creationId xmlns:p14="http://schemas.microsoft.com/office/powerpoint/2010/main" val="13823014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2635F-DC56-41E7-97D9-892FCCEDAB5B}"/>
              </a:ext>
            </a:extLst>
          </p:cNvPr>
          <p:cNvSpPr>
            <a:spLocks noGrp="1"/>
          </p:cNvSpPr>
          <p:nvPr>
            <p:ph type="title"/>
          </p:nvPr>
        </p:nvSpPr>
        <p:spPr>
          <a:xfrm>
            <a:off x="1221324" y="78988"/>
            <a:ext cx="8911687" cy="861790"/>
          </a:xfrm>
        </p:spPr>
        <p:txBody>
          <a:bodyPr>
            <a:normAutofit fontScale="90000"/>
          </a:bodyPr>
          <a:lstStyle/>
          <a:p>
            <a:r>
              <a:rPr lang="en-IN" sz="2000" b="1" dirty="0">
                <a:solidFill>
                  <a:schemeClr val="accent6"/>
                </a:solidFill>
              </a:rPr>
              <a:t>TO STUDY THE DIFFERENCE BETWEEN NUMBER OF HOURS SPENT IN ONLINE LECTURES V/S IN OFFLINE LECTURES.</a:t>
            </a:r>
            <a:br>
              <a:rPr lang="en-IN" sz="2000" b="1" dirty="0">
                <a:solidFill>
                  <a:schemeClr val="accent6"/>
                </a:solidFill>
              </a:rPr>
            </a:br>
            <a:endParaRPr lang="en-IN" sz="2000" b="1" dirty="0">
              <a:solidFill>
                <a:schemeClr val="accent6"/>
              </a:solidFill>
            </a:endParaRPr>
          </a:p>
        </p:txBody>
      </p:sp>
      <p:sp>
        <p:nvSpPr>
          <p:cNvPr id="5" name="TextBox 4">
            <a:extLst>
              <a:ext uri="{FF2B5EF4-FFF2-40B4-BE49-F238E27FC236}">
                <a16:creationId xmlns:a16="http://schemas.microsoft.com/office/drawing/2014/main" id="{938373A6-23F8-4798-9FB6-075210D54C6D}"/>
              </a:ext>
            </a:extLst>
          </p:cNvPr>
          <p:cNvSpPr txBox="1"/>
          <p:nvPr/>
        </p:nvSpPr>
        <p:spPr>
          <a:xfrm>
            <a:off x="542192" y="1857166"/>
            <a:ext cx="5152292" cy="2031325"/>
          </a:xfrm>
          <a:prstGeom prst="rect">
            <a:avLst/>
          </a:prstGeom>
          <a:noFill/>
        </p:spPr>
        <p:txBody>
          <a:bodyPr wrap="square">
            <a:spAutoFit/>
          </a:bodyPr>
          <a:lstStyle/>
          <a:p>
            <a:r>
              <a:rPr lang="en-US" b="1" dirty="0">
                <a:solidFill>
                  <a:srgbClr val="000000"/>
                </a:solidFill>
                <a:latin typeface="Arial" panose="020B0604020202020204" pitchFamily="34" charset="0"/>
              </a:rPr>
              <a:t>Ho</a:t>
            </a:r>
            <a:r>
              <a:rPr lang="en-US" b="1" i="0" u="none" strike="noStrike" dirty="0">
                <a:solidFill>
                  <a:srgbClr val="000000"/>
                </a:solidFill>
                <a:effectLst/>
                <a:latin typeface="Arial" panose="020B0604020202020204" pitchFamily="34" charset="0"/>
              </a:rPr>
              <a:t>: Students spent more number of hours in online lectures than in offline lectures. </a:t>
            </a:r>
          </a:p>
          <a:p>
            <a:endParaRPr lang="en-US" b="1" i="0" u="none" strike="noStrike" dirty="0">
              <a:solidFill>
                <a:srgbClr val="000000"/>
              </a:solidFill>
              <a:effectLst/>
              <a:latin typeface="Arial" panose="020B0604020202020204" pitchFamily="34" charset="0"/>
            </a:endParaRPr>
          </a:p>
          <a:p>
            <a:r>
              <a:rPr lang="en-US" b="1" dirty="0">
                <a:solidFill>
                  <a:srgbClr val="000000"/>
                </a:solidFill>
                <a:latin typeface="Arial" panose="020B0604020202020204" pitchFamily="34" charset="0"/>
              </a:rPr>
              <a:t>H1: Not Ho.</a:t>
            </a:r>
          </a:p>
          <a:p>
            <a:endParaRPr lang="en-US" b="1" dirty="0">
              <a:solidFill>
                <a:srgbClr val="000000"/>
              </a:solidFill>
              <a:latin typeface="Arial" panose="020B0604020202020204" pitchFamily="34" charset="0"/>
            </a:endParaRPr>
          </a:p>
          <a:p>
            <a:endParaRPr lang="en-US" b="1" dirty="0">
              <a:solidFill>
                <a:srgbClr val="000000"/>
              </a:solidFill>
              <a:latin typeface="Arial" panose="020B0604020202020204" pitchFamily="34" charset="0"/>
            </a:endParaRPr>
          </a:p>
          <a:p>
            <a:r>
              <a:rPr lang="en-US" b="1" dirty="0">
                <a:solidFill>
                  <a:srgbClr val="000000"/>
                </a:solidFill>
                <a:latin typeface="Arial" panose="020B0604020202020204" pitchFamily="34" charset="0"/>
              </a:rPr>
              <a:t>      </a:t>
            </a:r>
            <a:endParaRPr lang="en-IN" b="1" dirty="0"/>
          </a:p>
        </p:txBody>
      </p:sp>
      <p:sp>
        <p:nvSpPr>
          <p:cNvPr id="7" name="TextBox 6">
            <a:extLst>
              <a:ext uri="{FF2B5EF4-FFF2-40B4-BE49-F238E27FC236}">
                <a16:creationId xmlns:a16="http://schemas.microsoft.com/office/drawing/2014/main" id="{135574BB-C613-45C2-ADAA-A626566C5B60}"/>
              </a:ext>
            </a:extLst>
          </p:cNvPr>
          <p:cNvSpPr txBox="1"/>
          <p:nvPr/>
        </p:nvSpPr>
        <p:spPr>
          <a:xfrm>
            <a:off x="2822330" y="4804880"/>
            <a:ext cx="7561385" cy="1508105"/>
          </a:xfrm>
          <a:prstGeom prst="rect">
            <a:avLst/>
          </a:prstGeom>
          <a:noFill/>
        </p:spPr>
        <p:txBody>
          <a:bodyPr wrap="square">
            <a:spAutoFit/>
          </a:bodyPr>
          <a:lstStyle/>
          <a:p>
            <a:r>
              <a:rPr lang="en-US" sz="2000" b="1" dirty="0">
                <a:solidFill>
                  <a:srgbClr val="000000"/>
                </a:solidFill>
                <a:latin typeface="Arial" panose="020B0604020202020204" pitchFamily="34" charset="0"/>
              </a:rPr>
              <a:t>     </a:t>
            </a:r>
            <a:r>
              <a:rPr lang="en-US" b="1" dirty="0">
                <a:solidFill>
                  <a:srgbClr val="000000"/>
                </a:solidFill>
                <a:latin typeface="Arial" panose="020B0604020202020204" pitchFamily="34" charset="0"/>
              </a:rPr>
              <a:t>P-value = 0.78852 &gt; α = 0.05</a:t>
            </a:r>
          </a:p>
          <a:p>
            <a:endParaRPr lang="en-US" b="1" dirty="0">
              <a:solidFill>
                <a:srgbClr val="000000"/>
              </a:solidFill>
              <a:latin typeface="Arial" panose="020B0604020202020204" pitchFamily="34" charset="0"/>
            </a:endParaRPr>
          </a:p>
          <a:p>
            <a:r>
              <a:rPr lang="en-US" b="1" dirty="0">
                <a:solidFill>
                  <a:srgbClr val="000000"/>
                </a:solidFill>
                <a:latin typeface="Arial" panose="020B0604020202020204" pitchFamily="34" charset="0"/>
              </a:rPr>
              <a:t>    Conclusion:- We do not reject Ho.</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Arial" panose="020B0604020202020204" pitchFamily="34" charset="0"/>
              </a:rPr>
              <a:t>     Therefore, </a:t>
            </a:r>
            <a:r>
              <a:rPr kumimoji="0" lang="en-US"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students spent more number </a:t>
            </a:r>
            <a:r>
              <a:rPr lang="en-US" b="1" dirty="0">
                <a:solidFill>
                  <a:srgbClr val="000000"/>
                </a:solidFill>
                <a:latin typeface="Arial" panose="020B0604020202020204" pitchFamily="34" charset="0"/>
              </a:rPr>
              <a:t>o</a:t>
            </a:r>
            <a:r>
              <a:rPr kumimoji="0" lang="en-US"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f hours in online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Arial" panose="020B0604020202020204" pitchFamily="34" charset="0"/>
              </a:rPr>
              <a:t>          </a:t>
            </a:r>
            <a:r>
              <a:rPr kumimoji="0" lang="en-US"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lectures than in offline lectures.</a:t>
            </a:r>
            <a:endParaRPr lang="en-IN" b="1" dirty="0">
              <a:solidFill>
                <a:schemeClr val="accent6"/>
              </a:solidFill>
            </a:endParaRPr>
          </a:p>
        </p:txBody>
      </p:sp>
      <p:graphicFrame>
        <p:nvGraphicFramePr>
          <p:cNvPr id="4" name="Table 3">
            <a:extLst>
              <a:ext uri="{FF2B5EF4-FFF2-40B4-BE49-F238E27FC236}">
                <a16:creationId xmlns:a16="http://schemas.microsoft.com/office/drawing/2014/main" id="{30B7968A-F6C9-42FE-BBED-B640CC40CA21}"/>
              </a:ext>
            </a:extLst>
          </p:cNvPr>
          <p:cNvGraphicFramePr>
            <a:graphicFrameLocks noGrp="1"/>
          </p:cNvGraphicFramePr>
          <p:nvPr>
            <p:extLst>
              <p:ext uri="{D42A27DB-BD31-4B8C-83A1-F6EECF244321}">
                <p14:modId xmlns:p14="http://schemas.microsoft.com/office/powerpoint/2010/main" val="1574761954"/>
              </p:ext>
            </p:extLst>
          </p:nvPr>
        </p:nvGraphicFramePr>
        <p:xfrm>
          <a:off x="6603023" y="1433146"/>
          <a:ext cx="5046785" cy="2682530"/>
        </p:xfrm>
        <a:graphic>
          <a:graphicData uri="http://schemas.openxmlformats.org/drawingml/2006/table">
            <a:tbl>
              <a:tblPr/>
              <a:tblGrid>
                <a:gridCol w="1601684">
                  <a:extLst>
                    <a:ext uri="{9D8B030D-6E8A-4147-A177-3AD203B41FA5}">
                      <a16:colId xmlns:a16="http://schemas.microsoft.com/office/drawing/2014/main" val="1638998642"/>
                    </a:ext>
                  </a:extLst>
                </a:gridCol>
                <a:gridCol w="1704224">
                  <a:extLst>
                    <a:ext uri="{9D8B030D-6E8A-4147-A177-3AD203B41FA5}">
                      <a16:colId xmlns:a16="http://schemas.microsoft.com/office/drawing/2014/main" val="949371868"/>
                    </a:ext>
                  </a:extLst>
                </a:gridCol>
                <a:gridCol w="1740877">
                  <a:extLst>
                    <a:ext uri="{9D8B030D-6E8A-4147-A177-3AD203B41FA5}">
                      <a16:colId xmlns:a16="http://schemas.microsoft.com/office/drawing/2014/main" val="2294949530"/>
                    </a:ext>
                  </a:extLst>
                </a:gridCol>
              </a:tblGrid>
              <a:tr h="258375">
                <a:tc gridSpan="2">
                  <a:txBody>
                    <a:bodyPr/>
                    <a:lstStyle/>
                    <a:p>
                      <a:pPr algn="l" fontAlgn="b"/>
                      <a:r>
                        <a:rPr lang="en-US" sz="1200" b="1" i="0" u="none" strike="noStrike" dirty="0">
                          <a:solidFill>
                            <a:schemeClr val="accent1"/>
                          </a:solidFill>
                          <a:effectLst/>
                          <a:latin typeface="Arial" panose="020B0604020202020204" pitchFamily="34" charset="0"/>
                        </a:rPr>
                        <a:t>t-Test: Two-Sample Assuming Equal Variances</a:t>
                      </a:r>
                    </a:p>
                  </a:txBody>
                  <a:tcPr marL="7620" marR="7620" marT="7620" marB="0" anchor="b">
                    <a:lnL>
                      <a:noFill/>
                    </a:lnL>
                    <a:lnR>
                      <a:noFill/>
                    </a:lnR>
                    <a:lnT>
                      <a:noFill/>
                    </a:lnT>
                    <a:lnB>
                      <a:noFill/>
                    </a:lnB>
                  </a:tcPr>
                </a:tc>
                <a:tc hMerge="1">
                  <a:txBody>
                    <a:bodyPr/>
                    <a:lstStyle/>
                    <a:p>
                      <a:endParaRPr lang="en-IN"/>
                    </a:p>
                  </a:txBody>
                  <a:tcPr/>
                </a:tc>
                <a:tc>
                  <a:txBody>
                    <a:bodyPr/>
                    <a:lstStyle/>
                    <a:p>
                      <a:pPr algn="l" fontAlgn="b"/>
                      <a:endParaRPr lang="en-IN" sz="1200" b="1" i="0" u="none" strike="noStrike">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790289878"/>
                  </a:ext>
                </a:extLst>
              </a:tr>
              <a:tr h="190896">
                <a:tc>
                  <a:txBody>
                    <a:bodyPr/>
                    <a:lstStyle/>
                    <a:p>
                      <a:pPr algn="l" fontAlgn="b"/>
                      <a:endParaRPr lang="en-IN" sz="1200" b="1" i="0" u="none" strike="noStrike">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200" b="1" i="0" u="none" strike="noStrike" dirty="0">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200" b="1" i="0" u="none" strike="noStrike">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942644375"/>
                  </a:ext>
                </a:extLst>
              </a:tr>
              <a:tr h="556088">
                <a:tc>
                  <a:txBody>
                    <a:bodyPr/>
                    <a:lstStyle/>
                    <a:p>
                      <a:pPr algn="l" fontAlgn="b"/>
                      <a:endParaRPr lang="en-IN" sz="1200" b="1" i="0" u="none" strike="noStrike" dirty="0">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r>
                        <a:rPr lang="en-US" sz="1200" b="1" i="0" u="none" strike="noStrike" dirty="0">
                          <a:solidFill>
                            <a:schemeClr val="accent1"/>
                          </a:solidFill>
                          <a:effectLst/>
                          <a:latin typeface="Arial" panose="020B0604020202020204" pitchFamily="34" charset="0"/>
                        </a:rPr>
                        <a:t>How many hours do you spend in ? [online lectures]</a:t>
                      </a:r>
                    </a:p>
                  </a:txBody>
                  <a:tcPr marL="7620" marR="7620" marT="7620" marB="0" anchor="b">
                    <a:lnL>
                      <a:noFill/>
                    </a:lnL>
                    <a:lnR>
                      <a:noFill/>
                    </a:lnR>
                    <a:lnT>
                      <a:noFill/>
                    </a:lnT>
                    <a:lnB>
                      <a:noFill/>
                    </a:lnB>
                  </a:tcPr>
                </a:tc>
                <a:tc>
                  <a:txBody>
                    <a:bodyPr/>
                    <a:lstStyle/>
                    <a:p>
                      <a:pPr algn="l" fontAlgn="b"/>
                      <a:r>
                        <a:rPr lang="en-US" sz="1200" b="1" i="0" u="none" strike="noStrike">
                          <a:solidFill>
                            <a:schemeClr val="accent1"/>
                          </a:solidFill>
                          <a:effectLst/>
                          <a:latin typeface="Arial" panose="020B0604020202020204" pitchFamily="34" charset="0"/>
                        </a:rPr>
                        <a:t>How many hours do you spend in ? [ offline lectures]</a:t>
                      </a:r>
                    </a:p>
                  </a:txBody>
                  <a:tcPr marL="7620" marR="7620" marT="7620" marB="0" anchor="b">
                    <a:lnL>
                      <a:noFill/>
                    </a:lnL>
                    <a:lnR>
                      <a:noFill/>
                    </a:lnR>
                    <a:lnT>
                      <a:noFill/>
                    </a:lnT>
                    <a:lnB>
                      <a:noFill/>
                    </a:lnB>
                  </a:tcPr>
                </a:tc>
                <a:extLst>
                  <a:ext uri="{0D108BD9-81ED-4DB2-BD59-A6C34878D82A}">
                    <a16:rowId xmlns:a16="http://schemas.microsoft.com/office/drawing/2014/main" val="22371274"/>
                  </a:ext>
                </a:extLst>
              </a:tr>
              <a:tr h="258375">
                <a:tc>
                  <a:txBody>
                    <a:bodyPr/>
                    <a:lstStyle/>
                    <a:p>
                      <a:pPr algn="l" fontAlgn="b"/>
                      <a:r>
                        <a:rPr lang="en-IN" sz="1200" b="1" i="0" u="none" strike="noStrike" dirty="0">
                          <a:solidFill>
                            <a:schemeClr val="accent1"/>
                          </a:solidFill>
                          <a:effectLst/>
                          <a:latin typeface="Arial" panose="020B0604020202020204" pitchFamily="34" charset="0"/>
                        </a:rPr>
                        <a:t>Mean</a:t>
                      </a:r>
                    </a:p>
                  </a:txBody>
                  <a:tcPr marL="7620" marR="7620" marT="7620" marB="0" anchor="b">
                    <a:lnL>
                      <a:noFill/>
                    </a:lnL>
                    <a:lnR>
                      <a:noFill/>
                    </a:lnR>
                    <a:lnT>
                      <a:noFill/>
                    </a:lnT>
                    <a:lnB>
                      <a:noFill/>
                    </a:lnB>
                  </a:tcPr>
                </a:tc>
                <a:tc>
                  <a:txBody>
                    <a:bodyPr/>
                    <a:lstStyle/>
                    <a:p>
                      <a:pPr algn="r" fontAlgn="b"/>
                      <a:r>
                        <a:rPr lang="en-IN" sz="1200" b="1" i="0" u="none" strike="noStrike" dirty="0">
                          <a:solidFill>
                            <a:schemeClr val="accent1"/>
                          </a:solidFill>
                          <a:effectLst/>
                          <a:latin typeface="Arial" panose="020B0604020202020204" pitchFamily="34" charset="0"/>
                        </a:rPr>
                        <a:t>5.85</a:t>
                      </a:r>
                    </a:p>
                  </a:txBody>
                  <a:tcPr marL="7620" marR="7620" marT="7620" marB="0" anchor="b">
                    <a:lnL>
                      <a:noFill/>
                    </a:lnL>
                    <a:lnR>
                      <a:noFill/>
                    </a:lnR>
                    <a:lnT>
                      <a:noFill/>
                    </a:lnT>
                    <a:lnB>
                      <a:noFill/>
                    </a:lnB>
                  </a:tcPr>
                </a:tc>
                <a:tc>
                  <a:txBody>
                    <a:bodyPr/>
                    <a:lstStyle/>
                    <a:p>
                      <a:pPr algn="r" fontAlgn="b"/>
                      <a:r>
                        <a:rPr lang="en-IN" sz="1200" b="1" i="0" u="none" strike="noStrike">
                          <a:solidFill>
                            <a:schemeClr val="accent1"/>
                          </a:solidFill>
                          <a:effectLst/>
                          <a:latin typeface="Arial" panose="020B0604020202020204" pitchFamily="34" charset="0"/>
                        </a:rPr>
                        <a:t>5.82</a:t>
                      </a:r>
                    </a:p>
                  </a:txBody>
                  <a:tcPr marL="7620" marR="7620" marT="7620" marB="0" anchor="b">
                    <a:lnL>
                      <a:noFill/>
                    </a:lnL>
                    <a:lnR>
                      <a:noFill/>
                    </a:lnR>
                    <a:lnT>
                      <a:noFill/>
                    </a:lnT>
                    <a:lnB>
                      <a:noFill/>
                    </a:lnB>
                  </a:tcPr>
                </a:tc>
                <a:extLst>
                  <a:ext uri="{0D108BD9-81ED-4DB2-BD59-A6C34878D82A}">
                    <a16:rowId xmlns:a16="http://schemas.microsoft.com/office/drawing/2014/main" val="4072477468"/>
                  </a:ext>
                </a:extLst>
              </a:tr>
              <a:tr h="258375">
                <a:tc>
                  <a:txBody>
                    <a:bodyPr/>
                    <a:lstStyle/>
                    <a:p>
                      <a:pPr algn="l" fontAlgn="b"/>
                      <a:r>
                        <a:rPr lang="en-IN" sz="1200" b="1" i="0" u="none" strike="noStrike" dirty="0">
                          <a:solidFill>
                            <a:schemeClr val="accent1"/>
                          </a:solidFill>
                          <a:effectLst/>
                          <a:latin typeface="Arial" panose="020B0604020202020204" pitchFamily="34" charset="0"/>
                        </a:rPr>
                        <a:t>Variance</a:t>
                      </a:r>
                    </a:p>
                  </a:txBody>
                  <a:tcPr marL="7620" marR="7620" marT="7620" marB="0" anchor="b">
                    <a:lnL>
                      <a:noFill/>
                    </a:lnL>
                    <a:lnR>
                      <a:noFill/>
                    </a:lnR>
                    <a:lnT>
                      <a:noFill/>
                    </a:lnT>
                    <a:lnB>
                      <a:noFill/>
                    </a:lnB>
                  </a:tcPr>
                </a:tc>
                <a:tc>
                  <a:txBody>
                    <a:bodyPr/>
                    <a:lstStyle/>
                    <a:p>
                      <a:pPr algn="r" fontAlgn="b"/>
                      <a:r>
                        <a:rPr lang="en-IN" sz="1200" b="1" i="0" u="none" strike="noStrike" dirty="0">
                          <a:solidFill>
                            <a:schemeClr val="accent1"/>
                          </a:solidFill>
                          <a:effectLst/>
                          <a:latin typeface="Arial" panose="020B0604020202020204" pitchFamily="34" charset="0"/>
                        </a:rPr>
                        <a:t>0.613636364</a:t>
                      </a:r>
                    </a:p>
                  </a:txBody>
                  <a:tcPr marL="7620" marR="7620" marT="7620" marB="0" anchor="b">
                    <a:lnL>
                      <a:noFill/>
                    </a:lnL>
                    <a:lnR>
                      <a:noFill/>
                    </a:lnR>
                    <a:lnT>
                      <a:noFill/>
                    </a:lnT>
                    <a:lnB>
                      <a:noFill/>
                    </a:lnB>
                  </a:tcPr>
                </a:tc>
                <a:tc>
                  <a:txBody>
                    <a:bodyPr/>
                    <a:lstStyle/>
                    <a:p>
                      <a:pPr algn="r" fontAlgn="b"/>
                      <a:r>
                        <a:rPr lang="en-IN" sz="1200" b="1" i="0" u="none" strike="noStrike">
                          <a:solidFill>
                            <a:schemeClr val="accent1"/>
                          </a:solidFill>
                          <a:effectLst/>
                          <a:latin typeface="Arial" panose="020B0604020202020204" pitchFamily="34" charset="0"/>
                        </a:rPr>
                        <a:t>0.633939394</a:t>
                      </a:r>
                    </a:p>
                  </a:txBody>
                  <a:tcPr marL="7620" marR="7620" marT="7620" marB="0" anchor="b">
                    <a:lnL>
                      <a:noFill/>
                    </a:lnL>
                    <a:lnR>
                      <a:noFill/>
                    </a:lnR>
                    <a:lnT>
                      <a:noFill/>
                    </a:lnT>
                    <a:lnB>
                      <a:noFill/>
                    </a:lnB>
                  </a:tcPr>
                </a:tc>
                <a:extLst>
                  <a:ext uri="{0D108BD9-81ED-4DB2-BD59-A6C34878D82A}">
                    <a16:rowId xmlns:a16="http://schemas.microsoft.com/office/drawing/2014/main" val="45280435"/>
                  </a:ext>
                </a:extLst>
              </a:tr>
              <a:tr h="258375">
                <a:tc>
                  <a:txBody>
                    <a:bodyPr/>
                    <a:lstStyle/>
                    <a:p>
                      <a:pPr algn="l" fontAlgn="b"/>
                      <a:r>
                        <a:rPr lang="en-IN" sz="1200" b="1" i="0" u="none" strike="noStrike" dirty="0">
                          <a:solidFill>
                            <a:schemeClr val="accent1"/>
                          </a:solidFill>
                          <a:effectLst/>
                          <a:latin typeface="Arial" panose="020B0604020202020204" pitchFamily="34" charset="0"/>
                        </a:rPr>
                        <a:t>Observations</a:t>
                      </a:r>
                    </a:p>
                  </a:txBody>
                  <a:tcPr marL="7620" marR="7620" marT="7620" marB="0" anchor="b">
                    <a:lnL>
                      <a:noFill/>
                    </a:lnL>
                    <a:lnR>
                      <a:noFill/>
                    </a:lnR>
                    <a:lnT>
                      <a:noFill/>
                    </a:lnT>
                    <a:lnB>
                      <a:noFill/>
                    </a:lnB>
                  </a:tcPr>
                </a:tc>
                <a:tc>
                  <a:txBody>
                    <a:bodyPr/>
                    <a:lstStyle/>
                    <a:p>
                      <a:pPr algn="r" fontAlgn="b"/>
                      <a:r>
                        <a:rPr lang="en-IN" sz="1200" b="1" i="0" u="none" strike="noStrike" dirty="0">
                          <a:solidFill>
                            <a:schemeClr val="accent1"/>
                          </a:solidFill>
                          <a:effectLst/>
                          <a:latin typeface="Arial" panose="020B0604020202020204" pitchFamily="34" charset="0"/>
                        </a:rPr>
                        <a:t>100</a:t>
                      </a:r>
                    </a:p>
                  </a:txBody>
                  <a:tcPr marL="7620" marR="7620" marT="7620" marB="0" anchor="b">
                    <a:lnL>
                      <a:noFill/>
                    </a:lnL>
                    <a:lnR>
                      <a:noFill/>
                    </a:lnR>
                    <a:lnT>
                      <a:noFill/>
                    </a:lnT>
                    <a:lnB>
                      <a:noFill/>
                    </a:lnB>
                  </a:tcPr>
                </a:tc>
                <a:tc>
                  <a:txBody>
                    <a:bodyPr/>
                    <a:lstStyle/>
                    <a:p>
                      <a:pPr algn="r" fontAlgn="b"/>
                      <a:r>
                        <a:rPr lang="en-IN" sz="1200" b="1" i="0" u="none" strike="noStrike">
                          <a:solidFill>
                            <a:schemeClr val="accent1"/>
                          </a:solidFill>
                          <a:effectLst/>
                          <a:latin typeface="Arial" panose="020B0604020202020204" pitchFamily="34" charset="0"/>
                        </a:rPr>
                        <a:t>100</a:t>
                      </a:r>
                    </a:p>
                  </a:txBody>
                  <a:tcPr marL="7620" marR="7620" marT="7620" marB="0" anchor="b">
                    <a:lnL>
                      <a:noFill/>
                    </a:lnL>
                    <a:lnR>
                      <a:noFill/>
                    </a:lnR>
                    <a:lnT>
                      <a:noFill/>
                    </a:lnT>
                    <a:lnB>
                      <a:noFill/>
                    </a:lnB>
                  </a:tcPr>
                </a:tc>
                <a:extLst>
                  <a:ext uri="{0D108BD9-81ED-4DB2-BD59-A6C34878D82A}">
                    <a16:rowId xmlns:a16="http://schemas.microsoft.com/office/drawing/2014/main" val="2969265964"/>
                  </a:ext>
                </a:extLst>
              </a:tr>
              <a:tr h="258375">
                <a:tc>
                  <a:txBody>
                    <a:bodyPr/>
                    <a:lstStyle/>
                    <a:p>
                      <a:pPr algn="l" fontAlgn="b"/>
                      <a:r>
                        <a:rPr lang="en-IN" sz="1200" b="1" i="0" u="none" strike="noStrike">
                          <a:solidFill>
                            <a:schemeClr val="accent1"/>
                          </a:solidFill>
                          <a:effectLst/>
                          <a:latin typeface="Arial" panose="020B0604020202020204" pitchFamily="34" charset="0"/>
                        </a:rPr>
                        <a:t>t Stat</a:t>
                      </a:r>
                    </a:p>
                  </a:txBody>
                  <a:tcPr marL="7620" marR="7620" marT="7620" marB="0" anchor="b">
                    <a:lnL>
                      <a:noFill/>
                    </a:lnL>
                    <a:lnR>
                      <a:noFill/>
                    </a:lnR>
                    <a:lnT>
                      <a:noFill/>
                    </a:lnT>
                    <a:lnB>
                      <a:noFill/>
                    </a:lnB>
                  </a:tcPr>
                </a:tc>
                <a:tc>
                  <a:txBody>
                    <a:bodyPr/>
                    <a:lstStyle/>
                    <a:p>
                      <a:pPr algn="r" fontAlgn="b"/>
                      <a:r>
                        <a:rPr lang="en-IN" sz="1200" b="1" i="0" u="none" strike="noStrike" dirty="0">
                          <a:solidFill>
                            <a:schemeClr val="accent1"/>
                          </a:solidFill>
                          <a:effectLst/>
                          <a:latin typeface="Arial" panose="020B0604020202020204" pitchFamily="34" charset="0"/>
                        </a:rPr>
                        <a:t>0.268588733</a:t>
                      </a:r>
                    </a:p>
                  </a:txBody>
                  <a:tcPr marL="7620" marR="7620" marT="7620" marB="0" anchor="b">
                    <a:lnL>
                      <a:noFill/>
                    </a:lnL>
                    <a:lnR>
                      <a:noFill/>
                    </a:lnR>
                    <a:lnT>
                      <a:noFill/>
                    </a:lnT>
                    <a:lnB>
                      <a:noFill/>
                    </a:lnB>
                  </a:tcPr>
                </a:tc>
                <a:tc>
                  <a:txBody>
                    <a:bodyPr/>
                    <a:lstStyle/>
                    <a:p>
                      <a:pPr algn="l" fontAlgn="b"/>
                      <a:endParaRPr lang="en-IN" sz="1200" b="1" i="0" u="none" strike="noStrike">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3625540704"/>
                  </a:ext>
                </a:extLst>
              </a:tr>
              <a:tr h="258375">
                <a:tc>
                  <a:txBody>
                    <a:bodyPr/>
                    <a:lstStyle/>
                    <a:p>
                      <a:pPr algn="l" fontAlgn="b"/>
                      <a:r>
                        <a:rPr lang="en-IN" sz="1200" b="1" i="0" u="none" strike="noStrike">
                          <a:solidFill>
                            <a:schemeClr val="accent1"/>
                          </a:solidFill>
                          <a:effectLst/>
                          <a:latin typeface="Arial" panose="020B0604020202020204" pitchFamily="34" charset="0"/>
                        </a:rPr>
                        <a:t>P(T&lt;=t) two-tail</a:t>
                      </a:r>
                    </a:p>
                  </a:txBody>
                  <a:tcPr marL="7620" marR="7620" marT="7620" marB="0" anchor="b">
                    <a:lnL>
                      <a:noFill/>
                    </a:lnL>
                    <a:lnR>
                      <a:noFill/>
                    </a:lnR>
                    <a:lnT>
                      <a:noFill/>
                    </a:lnT>
                    <a:lnB>
                      <a:noFill/>
                    </a:lnB>
                  </a:tcPr>
                </a:tc>
                <a:tc>
                  <a:txBody>
                    <a:bodyPr/>
                    <a:lstStyle/>
                    <a:p>
                      <a:pPr algn="r" fontAlgn="b"/>
                      <a:r>
                        <a:rPr lang="en-IN" sz="1200" b="1" i="0" u="none" strike="noStrike" dirty="0">
                          <a:solidFill>
                            <a:schemeClr val="accent1"/>
                          </a:solidFill>
                          <a:effectLst/>
                          <a:latin typeface="Arial" panose="020B0604020202020204" pitchFamily="34" charset="0"/>
                        </a:rPr>
                        <a:t>0.788525822</a:t>
                      </a:r>
                    </a:p>
                  </a:txBody>
                  <a:tcPr marL="7620" marR="7620" marT="7620" marB="0" anchor="b">
                    <a:lnL>
                      <a:noFill/>
                    </a:lnL>
                    <a:lnR>
                      <a:noFill/>
                    </a:lnR>
                    <a:lnT>
                      <a:noFill/>
                    </a:lnT>
                    <a:lnB>
                      <a:noFill/>
                    </a:lnB>
                  </a:tcPr>
                </a:tc>
                <a:tc>
                  <a:txBody>
                    <a:bodyPr/>
                    <a:lstStyle/>
                    <a:p>
                      <a:pPr algn="l" fontAlgn="b"/>
                      <a:endParaRPr lang="en-IN" sz="1200" b="1" i="0" u="none" strike="noStrike" dirty="0">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2250627746"/>
                  </a:ext>
                </a:extLst>
              </a:tr>
              <a:tr h="270119">
                <a:tc>
                  <a:txBody>
                    <a:bodyPr/>
                    <a:lstStyle/>
                    <a:p>
                      <a:pPr algn="l" fontAlgn="b"/>
                      <a:r>
                        <a:rPr lang="en-IN" sz="1200" b="1" i="0" u="none" strike="noStrike">
                          <a:solidFill>
                            <a:schemeClr val="accent1"/>
                          </a:solidFill>
                          <a:effectLst/>
                          <a:latin typeface="Arial" panose="020B0604020202020204" pitchFamily="34" charset="0"/>
                        </a:rPr>
                        <a:t>t Critical two-tail</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IN" sz="1200" b="1" i="0" u="none" strike="noStrike" dirty="0">
                          <a:solidFill>
                            <a:schemeClr val="accent1"/>
                          </a:solidFill>
                          <a:effectLst/>
                          <a:latin typeface="Arial" panose="020B0604020202020204" pitchFamily="34" charset="0"/>
                        </a:rPr>
                        <a:t>1.972017478</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IN" sz="1200" b="1" i="0" u="none" strike="noStrike" dirty="0">
                        <a:solidFill>
                          <a:schemeClr val="accent1"/>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3093933039"/>
                  </a:ext>
                </a:extLst>
              </a:tr>
            </a:tbl>
          </a:graphicData>
        </a:graphic>
      </p:graphicFrame>
    </p:spTree>
    <p:extLst>
      <p:ext uri="{BB962C8B-B14F-4D97-AF65-F5344CB8AC3E}">
        <p14:creationId xmlns:p14="http://schemas.microsoft.com/office/powerpoint/2010/main" val="31008541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8E58F-4C3C-4F6C-84F7-0E53BC72F43E}"/>
              </a:ext>
            </a:extLst>
          </p:cNvPr>
          <p:cNvSpPr>
            <a:spLocks noGrp="1"/>
          </p:cNvSpPr>
          <p:nvPr>
            <p:ph type="title"/>
          </p:nvPr>
        </p:nvSpPr>
        <p:spPr>
          <a:xfrm>
            <a:off x="1379586" y="79129"/>
            <a:ext cx="8911687" cy="3552093"/>
          </a:xfrm>
        </p:spPr>
        <p:txBody>
          <a:bodyPr>
            <a:normAutofit/>
          </a:bodyPr>
          <a:lstStyle/>
          <a:p>
            <a:r>
              <a:rPr lang="en-IN" sz="2000" b="1" dirty="0">
                <a:solidFill>
                  <a:srgbClr val="002060"/>
                </a:solidFill>
              </a:rPr>
              <a:t>IS THERE ANY ASSOCIATION BETWEEN AGE AND FREQUENCY WITH WHICH THEY USE THE INTERNET</a:t>
            </a:r>
            <a:br>
              <a:rPr lang="en-IN" sz="2000" b="1" i="1" dirty="0">
                <a:solidFill>
                  <a:srgbClr val="002060"/>
                </a:solidFill>
              </a:rPr>
            </a:br>
            <a:r>
              <a:rPr lang="en-IN" sz="2000" b="1" i="1" dirty="0">
                <a:solidFill>
                  <a:srgbClr val="002060"/>
                </a:solidFill>
              </a:rPr>
              <a:t>         </a:t>
            </a:r>
            <a:r>
              <a:rPr lang="en-IN" sz="2000" b="1" dirty="0">
                <a:solidFill>
                  <a:srgbClr val="002060"/>
                </a:solidFill>
              </a:rPr>
              <a:t>Chi-square test :-</a:t>
            </a:r>
            <a:br>
              <a:rPr lang="en-IN" sz="2000" b="1" i="1" dirty="0">
                <a:solidFill>
                  <a:srgbClr val="002060"/>
                </a:solidFill>
              </a:rPr>
            </a:br>
            <a:r>
              <a:rPr lang="en-IN" sz="2000" b="1" i="1" dirty="0">
                <a:solidFill>
                  <a:srgbClr val="002060"/>
                </a:solidFill>
              </a:rPr>
              <a:t>     </a:t>
            </a:r>
            <a:r>
              <a:rPr lang="en-IN" sz="2000" b="1" dirty="0">
                <a:solidFill>
                  <a:srgbClr val="002060"/>
                </a:solidFill>
              </a:rPr>
              <a:t>Observed frequency:-</a:t>
            </a:r>
            <a:br>
              <a:rPr lang="en-IN" sz="2000" b="1" i="1" dirty="0">
                <a:solidFill>
                  <a:srgbClr val="002060"/>
                </a:solidFill>
              </a:rPr>
            </a:br>
            <a:br>
              <a:rPr lang="en-IN" sz="2000" b="1" i="1" dirty="0">
                <a:solidFill>
                  <a:srgbClr val="002060"/>
                </a:solidFill>
              </a:rPr>
            </a:br>
            <a:br>
              <a:rPr lang="en-IN" sz="2000" b="1" i="1" dirty="0">
                <a:solidFill>
                  <a:srgbClr val="002060"/>
                </a:solidFill>
              </a:rPr>
            </a:br>
            <a:br>
              <a:rPr lang="en-IN" sz="2000" b="1" i="1" dirty="0">
                <a:solidFill>
                  <a:srgbClr val="002060"/>
                </a:solidFill>
              </a:rPr>
            </a:br>
            <a:br>
              <a:rPr lang="en-IN" sz="2000" b="1" i="1" dirty="0">
                <a:solidFill>
                  <a:srgbClr val="002060"/>
                </a:solidFill>
              </a:rPr>
            </a:br>
            <a:br>
              <a:rPr lang="en-IN" sz="2000" b="1" i="1" dirty="0">
                <a:solidFill>
                  <a:srgbClr val="002060"/>
                </a:solidFill>
              </a:rPr>
            </a:br>
            <a:r>
              <a:rPr lang="en-IN" sz="2000" b="1" i="1" dirty="0">
                <a:solidFill>
                  <a:srgbClr val="002060"/>
                </a:solidFill>
              </a:rPr>
              <a:t>     </a:t>
            </a:r>
            <a:r>
              <a:rPr lang="en-IN" sz="2000" b="1" dirty="0">
                <a:solidFill>
                  <a:srgbClr val="002060"/>
                </a:solidFill>
              </a:rPr>
              <a:t>Expected frequency:-</a:t>
            </a:r>
            <a:endParaRPr lang="en-IN" sz="1800" dirty="0">
              <a:solidFill>
                <a:srgbClr val="002060"/>
              </a:solidFill>
            </a:endParaRPr>
          </a:p>
        </p:txBody>
      </p:sp>
      <p:graphicFrame>
        <p:nvGraphicFramePr>
          <p:cNvPr id="5" name="Table 4">
            <a:extLst>
              <a:ext uri="{FF2B5EF4-FFF2-40B4-BE49-F238E27FC236}">
                <a16:creationId xmlns:a16="http://schemas.microsoft.com/office/drawing/2014/main" id="{6DBEE6CB-F141-4EE8-B36D-44A39016CFA0}"/>
              </a:ext>
            </a:extLst>
          </p:cNvPr>
          <p:cNvGraphicFramePr>
            <a:graphicFrameLocks noGrp="1"/>
          </p:cNvGraphicFramePr>
          <p:nvPr>
            <p:extLst>
              <p:ext uri="{D42A27DB-BD31-4B8C-83A1-F6EECF244321}">
                <p14:modId xmlns:p14="http://schemas.microsoft.com/office/powerpoint/2010/main" val="842294335"/>
              </p:ext>
            </p:extLst>
          </p:nvPr>
        </p:nvGraphicFramePr>
        <p:xfrm>
          <a:off x="1186961" y="4923693"/>
          <a:ext cx="3889669" cy="1431876"/>
        </p:xfrm>
        <a:graphic>
          <a:graphicData uri="http://schemas.openxmlformats.org/drawingml/2006/table">
            <a:tbl>
              <a:tblPr/>
              <a:tblGrid>
                <a:gridCol w="644269">
                  <a:extLst>
                    <a:ext uri="{9D8B030D-6E8A-4147-A177-3AD203B41FA5}">
                      <a16:colId xmlns:a16="http://schemas.microsoft.com/office/drawing/2014/main" val="4142201756"/>
                    </a:ext>
                  </a:extLst>
                </a:gridCol>
                <a:gridCol w="1254888">
                  <a:extLst>
                    <a:ext uri="{9D8B030D-6E8A-4147-A177-3AD203B41FA5}">
                      <a16:colId xmlns:a16="http://schemas.microsoft.com/office/drawing/2014/main" val="1172755058"/>
                    </a:ext>
                  </a:extLst>
                </a:gridCol>
                <a:gridCol w="226814">
                  <a:extLst>
                    <a:ext uri="{9D8B030D-6E8A-4147-A177-3AD203B41FA5}">
                      <a16:colId xmlns:a16="http://schemas.microsoft.com/office/drawing/2014/main" val="3546125434"/>
                    </a:ext>
                  </a:extLst>
                </a:gridCol>
                <a:gridCol w="465538">
                  <a:extLst>
                    <a:ext uri="{9D8B030D-6E8A-4147-A177-3AD203B41FA5}">
                      <a16:colId xmlns:a16="http://schemas.microsoft.com/office/drawing/2014/main" val="3205831664"/>
                    </a:ext>
                  </a:extLst>
                </a:gridCol>
                <a:gridCol w="649080">
                  <a:extLst>
                    <a:ext uri="{9D8B030D-6E8A-4147-A177-3AD203B41FA5}">
                      <a16:colId xmlns:a16="http://schemas.microsoft.com/office/drawing/2014/main" val="3544479166"/>
                    </a:ext>
                  </a:extLst>
                </a:gridCol>
                <a:gridCol w="649080">
                  <a:extLst>
                    <a:ext uri="{9D8B030D-6E8A-4147-A177-3AD203B41FA5}">
                      <a16:colId xmlns:a16="http://schemas.microsoft.com/office/drawing/2014/main" val="4263906538"/>
                    </a:ext>
                  </a:extLst>
                </a:gridCol>
              </a:tblGrid>
              <a:tr h="672612">
                <a:tc gridSpan="6">
                  <a:txBody>
                    <a:bodyPr/>
                    <a:lstStyle/>
                    <a:p>
                      <a:pPr algn="l" fontAlgn="b"/>
                      <a:r>
                        <a:rPr lang="en-US" sz="1400" b="1" i="0" u="none" strike="noStrike" dirty="0">
                          <a:solidFill>
                            <a:srgbClr val="000000"/>
                          </a:solidFill>
                          <a:effectLst/>
                          <a:latin typeface="Arial" panose="020B0604020202020204" pitchFamily="34" charset="0"/>
                        </a:rPr>
                        <a:t>Ho: there is no significant association between age and the frequency with which they use the internet.</a:t>
                      </a:r>
                    </a:p>
                  </a:txBody>
                  <a:tcPr marL="7620" marR="7620" marT="7620" marB="0" anchor="b">
                    <a:lnL>
                      <a:noFill/>
                    </a:lnL>
                    <a:lnR>
                      <a:noFill/>
                    </a:lnR>
                    <a:lnT>
                      <a:noFill/>
                    </a:lnT>
                    <a:lnB>
                      <a:noFill/>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111248625"/>
                  </a:ext>
                </a:extLst>
              </a:tr>
              <a:tr h="0">
                <a:tc>
                  <a:txBody>
                    <a:bodyPr/>
                    <a:lstStyle/>
                    <a:p>
                      <a:pPr algn="l" fontAlgn="b"/>
                      <a:endParaRPr lang="en-IN" sz="1400" b="1"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400" b="1"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400" b="1"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0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0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0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29574822"/>
                  </a:ext>
                </a:extLst>
              </a:tr>
              <a:tr h="269142">
                <a:tc>
                  <a:txBody>
                    <a:bodyPr/>
                    <a:lstStyle/>
                    <a:p>
                      <a:pPr algn="l" fontAlgn="b"/>
                      <a:r>
                        <a:rPr lang="en-IN" sz="1400" b="1" i="0" u="none" strike="noStrike">
                          <a:solidFill>
                            <a:srgbClr val="000000"/>
                          </a:solidFill>
                          <a:effectLst/>
                          <a:latin typeface="Arial" panose="020B0604020202020204" pitchFamily="34" charset="0"/>
                        </a:rPr>
                        <a:t>p&lt;0.05</a:t>
                      </a:r>
                    </a:p>
                  </a:txBody>
                  <a:tcPr marL="7620" marR="7620" marT="7620" marB="0" anchor="b">
                    <a:lnL>
                      <a:noFill/>
                    </a:lnL>
                    <a:lnR>
                      <a:noFill/>
                    </a:lnR>
                    <a:lnT>
                      <a:noFill/>
                    </a:lnT>
                    <a:lnB>
                      <a:noFill/>
                    </a:lnB>
                  </a:tcPr>
                </a:tc>
                <a:tc>
                  <a:txBody>
                    <a:bodyPr/>
                    <a:lstStyle/>
                    <a:p>
                      <a:pPr algn="l" fontAlgn="b"/>
                      <a:r>
                        <a:rPr lang="en-IN" sz="1400" b="1" i="0" u="none" strike="noStrike" dirty="0">
                          <a:solidFill>
                            <a:srgbClr val="000000"/>
                          </a:solidFill>
                          <a:effectLst/>
                          <a:latin typeface="Arial" panose="020B0604020202020204" pitchFamily="34" charset="0"/>
                        </a:rPr>
                        <a:t>Reject Ho</a:t>
                      </a:r>
                    </a:p>
                  </a:txBody>
                  <a:tcPr marL="7620" marR="7620" marT="7620" marB="0" anchor="b">
                    <a:lnL>
                      <a:noFill/>
                    </a:lnL>
                    <a:lnR>
                      <a:noFill/>
                    </a:lnR>
                    <a:lnT>
                      <a:noFill/>
                    </a:lnT>
                    <a:lnB>
                      <a:noFill/>
                    </a:lnB>
                  </a:tcPr>
                </a:tc>
                <a:tc>
                  <a:txBody>
                    <a:bodyPr/>
                    <a:lstStyle/>
                    <a:p>
                      <a:pPr algn="l" fontAlgn="b"/>
                      <a:endParaRPr lang="en-IN" sz="1400" b="1"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0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0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0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1696155701"/>
                  </a:ext>
                </a:extLst>
              </a:tr>
              <a:tr h="269142">
                <a:tc>
                  <a:txBody>
                    <a:bodyPr/>
                    <a:lstStyle/>
                    <a:p>
                      <a:pPr algn="l" fontAlgn="b"/>
                      <a:r>
                        <a:rPr lang="en-IN" sz="1400" b="1" i="0" u="none" strike="noStrike">
                          <a:solidFill>
                            <a:srgbClr val="000000"/>
                          </a:solidFill>
                          <a:effectLst/>
                          <a:latin typeface="Arial" panose="020B0604020202020204" pitchFamily="34" charset="0"/>
                        </a:rPr>
                        <a:t>p&gt;0.05</a:t>
                      </a:r>
                    </a:p>
                  </a:txBody>
                  <a:tcPr marL="7620" marR="7620" marT="7620" marB="0" anchor="b">
                    <a:lnL>
                      <a:noFill/>
                    </a:lnL>
                    <a:lnR>
                      <a:noFill/>
                    </a:lnR>
                    <a:lnT>
                      <a:noFill/>
                    </a:lnT>
                    <a:lnB>
                      <a:noFill/>
                    </a:lnB>
                  </a:tcPr>
                </a:tc>
                <a:tc gridSpan="2">
                  <a:txBody>
                    <a:bodyPr/>
                    <a:lstStyle/>
                    <a:p>
                      <a:pPr algn="l" fontAlgn="b"/>
                      <a:r>
                        <a:rPr lang="en-IN" sz="1400" b="1" i="0" u="none" strike="noStrike" dirty="0">
                          <a:solidFill>
                            <a:srgbClr val="000000"/>
                          </a:solidFill>
                          <a:effectLst/>
                          <a:latin typeface="Arial" panose="020B0604020202020204" pitchFamily="34" charset="0"/>
                        </a:rPr>
                        <a:t>Do not reject Ho</a:t>
                      </a:r>
                    </a:p>
                  </a:txBody>
                  <a:tcPr marL="7620" marR="7620" marT="7620" marB="0" anchor="b">
                    <a:lnL>
                      <a:noFill/>
                    </a:lnL>
                    <a:lnR>
                      <a:noFill/>
                    </a:lnR>
                    <a:lnT>
                      <a:noFill/>
                    </a:lnT>
                    <a:lnB>
                      <a:noFill/>
                    </a:lnB>
                  </a:tcPr>
                </a:tc>
                <a:tc hMerge="1">
                  <a:txBody>
                    <a:bodyPr/>
                    <a:lstStyle/>
                    <a:p>
                      <a:endParaRPr lang="en-IN"/>
                    </a:p>
                  </a:txBody>
                  <a:tcPr/>
                </a:tc>
                <a:tc>
                  <a:txBody>
                    <a:bodyPr/>
                    <a:lstStyle/>
                    <a:p>
                      <a:pPr algn="l" fontAlgn="b"/>
                      <a:endParaRPr lang="en-IN" sz="10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0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0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128839726"/>
                  </a:ext>
                </a:extLst>
              </a:tr>
            </a:tbl>
          </a:graphicData>
        </a:graphic>
      </p:graphicFrame>
      <p:graphicFrame>
        <p:nvGraphicFramePr>
          <p:cNvPr id="6" name="Table 5">
            <a:extLst>
              <a:ext uri="{FF2B5EF4-FFF2-40B4-BE49-F238E27FC236}">
                <a16:creationId xmlns:a16="http://schemas.microsoft.com/office/drawing/2014/main" id="{031268CB-A44D-44F5-894F-5F78B535F1EB}"/>
              </a:ext>
            </a:extLst>
          </p:cNvPr>
          <p:cNvGraphicFramePr>
            <a:graphicFrameLocks noGrp="1"/>
          </p:cNvGraphicFramePr>
          <p:nvPr>
            <p:extLst>
              <p:ext uri="{D42A27DB-BD31-4B8C-83A1-F6EECF244321}">
                <p14:modId xmlns:p14="http://schemas.microsoft.com/office/powerpoint/2010/main" val="2553463361"/>
              </p:ext>
            </p:extLst>
          </p:nvPr>
        </p:nvGraphicFramePr>
        <p:xfrm>
          <a:off x="4941276" y="5178669"/>
          <a:ext cx="7183315" cy="1490074"/>
        </p:xfrm>
        <a:graphic>
          <a:graphicData uri="http://schemas.openxmlformats.org/drawingml/2006/table">
            <a:tbl>
              <a:tblPr/>
              <a:tblGrid>
                <a:gridCol w="1359871">
                  <a:extLst>
                    <a:ext uri="{9D8B030D-6E8A-4147-A177-3AD203B41FA5}">
                      <a16:colId xmlns:a16="http://schemas.microsoft.com/office/drawing/2014/main" val="531339131"/>
                    </a:ext>
                  </a:extLst>
                </a:gridCol>
                <a:gridCol w="2667176">
                  <a:extLst>
                    <a:ext uri="{9D8B030D-6E8A-4147-A177-3AD203B41FA5}">
                      <a16:colId xmlns:a16="http://schemas.microsoft.com/office/drawing/2014/main" val="3775544267"/>
                    </a:ext>
                  </a:extLst>
                </a:gridCol>
                <a:gridCol w="52565">
                  <a:extLst>
                    <a:ext uri="{9D8B030D-6E8A-4147-A177-3AD203B41FA5}">
                      <a16:colId xmlns:a16="http://schemas.microsoft.com/office/drawing/2014/main" val="4286851170"/>
                    </a:ext>
                  </a:extLst>
                </a:gridCol>
                <a:gridCol w="1359871">
                  <a:extLst>
                    <a:ext uri="{9D8B030D-6E8A-4147-A177-3AD203B41FA5}">
                      <a16:colId xmlns:a16="http://schemas.microsoft.com/office/drawing/2014/main" val="2502333949"/>
                    </a:ext>
                  </a:extLst>
                </a:gridCol>
                <a:gridCol w="767926">
                  <a:extLst>
                    <a:ext uri="{9D8B030D-6E8A-4147-A177-3AD203B41FA5}">
                      <a16:colId xmlns:a16="http://schemas.microsoft.com/office/drawing/2014/main" val="2693021746"/>
                    </a:ext>
                  </a:extLst>
                </a:gridCol>
                <a:gridCol w="975906">
                  <a:extLst>
                    <a:ext uri="{9D8B030D-6E8A-4147-A177-3AD203B41FA5}">
                      <a16:colId xmlns:a16="http://schemas.microsoft.com/office/drawing/2014/main" val="3697373128"/>
                    </a:ext>
                  </a:extLst>
                </a:gridCol>
              </a:tblGrid>
              <a:tr h="216609">
                <a:tc>
                  <a:txBody>
                    <a:bodyPr/>
                    <a:lstStyle/>
                    <a:p>
                      <a:pPr algn="l" fontAlgn="b"/>
                      <a:r>
                        <a:rPr lang="en-IN" sz="1400" b="1" i="0" u="none" strike="noStrike" dirty="0">
                          <a:solidFill>
                            <a:schemeClr val="accent2">
                              <a:lumMod val="75000"/>
                            </a:schemeClr>
                          </a:solidFill>
                          <a:effectLst/>
                          <a:latin typeface="Arial" panose="020B0604020202020204" pitchFamily="34" charset="0"/>
                        </a:rPr>
                        <a:t>P-value </a:t>
                      </a:r>
                    </a:p>
                  </a:txBody>
                  <a:tcPr marL="7620" marR="7620" marT="7620" marB="0" anchor="b">
                    <a:lnL>
                      <a:noFill/>
                    </a:lnL>
                    <a:lnR>
                      <a:noFill/>
                    </a:lnR>
                    <a:lnT>
                      <a:noFill/>
                    </a:lnT>
                    <a:lnB>
                      <a:noFill/>
                    </a:lnB>
                  </a:tcPr>
                </a:tc>
                <a:tc>
                  <a:txBody>
                    <a:bodyPr/>
                    <a:lstStyle/>
                    <a:p>
                      <a:pPr algn="r" fontAlgn="b"/>
                      <a:r>
                        <a:rPr lang="en-IN" sz="1400" b="1" i="0" u="none" strike="noStrike" dirty="0">
                          <a:solidFill>
                            <a:schemeClr val="accent2">
                              <a:lumMod val="75000"/>
                            </a:schemeClr>
                          </a:solidFill>
                          <a:effectLst/>
                          <a:latin typeface="Arial" panose="020B0604020202020204" pitchFamily="34" charset="0"/>
                        </a:rPr>
                        <a:t>0.933470635</a:t>
                      </a:r>
                    </a:p>
                  </a:txBody>
                  <a:tcPr marL="7620" marR="7620" marT="7620" marB="0" anchor="b">
                    <a:lnL>
                      <a:noFill/>
                    </a:lnL>
                    <a:lnR>
                      <a:noFill/>
                    </a:lnR>
                    <a:lnT>
                      <a:noFill/>
                    </a:lnT>
                    <a:lnB>
                      <a:noFill/>
                    </a:lnB>
                  </a:tcPr>
                </a:tc>
                <a:tc>
                  <a:txBody>
                    <a:bodyPr/>
                    <a:lstStyle/>
                    <a:p>
                      <a:pPr algn="l" fontAlgn="b"/>
                      <a:endParaRPr lang="en-IN" sz="1400" b="1" i="0" u="none" strike="noStrike">
                        <a:solidFill>
                          <a:schemeClr val="accent2">
                            <a:lumMod val="75000"/>
                          </a:schemeClr>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400" b="1" i="0" u="none" strike="noStrike">
                        <a:solidFill>
                          <a:schemeClr val="accent2">
                            <a:lumMod val="75000"/>
                          </a:schemeClr>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400" b="1" i="0" u="none" strike="noStrike">
                        <a:solidFill>
                          <a:schemeClr val="accent2">
                            <a:lumMod val="75000"/>
                          </a:schemeClr>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400" b="1" i="0" u="none" strike="noStrike">
                        <a:solidFill>
                          <a:schemeClr val="accent2">
                            <a:lumMod val="75000"/>
                          </a:schemeClr>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71053215"/>
                  </a:ext>
                </a:extLst>
              </a:tr>
              <a:tr h="417377">
                <a:tc>
                  <a:txBody>
                    <a:bodyPr/>
                    <a:lstStyle/>
                    <a:p>
                      <a:pPr algn="l" fontAlgn="b"/>
                      <a:r>
                        <a:rPr lang="en-IN" sz="1400" b="1" i="0" u="none" strike="noStrike" dirty="0">
                          <a:solidFill>
                            <a:schemeClr val="accent2">
                              <a:lumMod val="75000"/>
                            </a:schemeClr>
                          </a:solidFill>
                          <a:effectLst/>
                          <a:latin typeface="Arial" panose="020B0604020202020204" pitchFamily="34" charset="0"/>
                        </a:rPr>
                        <a:t>Conclusion </a:t>
                      </a:r>
                    </a:p>
                  </a:txBody>
                  <a:tcPr marL="7620" marR="7620" marT="7620" marB="0" anchor="b">
                    <a:lnL>
                      <a:noFill/>
                    </a:lnL>
                    <a:lnR>
                      <a:noFill/>
                    </a:lnR>
                    <a:lnT>
                      <a:noFill/>
                    </a:lnT>
                    <a:lnB>
                      <a:noFill/>
                    </a:lnB>
                  </a:tcPr>
                </a:tc>
                <a:tc>
                  <a:txBody>
                    <a:bodyPr/>
                    <a:lstStyle/>
                    <a:p>
                      <a:pPr algn="l" fontAlgn="b"/>
                      <a:r>
                        <a:rPr lang="en-IN" sz="1400" b="1" i="0" u="none" strike="noStrike" dirty="0">
                          <a:solidFill>
                            <a:schemeClr val="accent2">
                              <a:lumMod val="75000"/>
                            </a:schemeClr>
                          </a:solidFill>
                          <a:effectLst/>
                          <a:latin typeface="Arial" panose="020B0604020202020204" pitchFamily="34" charset="0"/>
                        </a:rPr>
                        <a:t>0.9334706 &gt; 0.05 </a:t>
                      </a:r>
                    </a:p>
                  </a:txBody>
                  <a:tcPr marL="7620" marR="7620" marT="7620" marB="0" anchor="b">
                    <a:lnL>
                      <a:noFill/>
                    </a:lnL>
                    <a:lnR>
                      <a:noFill/>
                    </a:lnR>
                    <a:lnT>
                      <a:noFill/>
                    </a:lnT>
                    <a:lnB>
                      <a:noFill/>
                    </a:lnB>
                  </a:tcPr>
                </a:tc>
                <a:tc>
                  <a:txBody>
                    <a:bodyPr/>
                    <a:lstStyle/>
                    <a:p>
                      <a:pPr algn="l" fontAlgn="b"/>
                      <a:endParaRPr lang="en-IN" sz="1400" b="1" i="0" u="none" strike="noStrike" dirty="0">
                        <a:solidFill>
                          <a:schemeClr val="accent2">
                            <a:lumMod val="75000"/>
                          </a:schemeClr>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400" b="1" i="0" u="none" strike="noStrike" dirty="0">
                        <a:solidFill>
                          <a:schemeClr val="accent2">
                            <a:lumMod val="75000"/>
                          </a:schemeClr>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400" b="1" i="0" u="none" strike="noStrike">
                        <a:solidFill>
                          <a:schemeClr val="accent2">
                            <a:lumMod val="75000"/>
                          </a:schemeClr>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400" b="1" i="0" u="none" strike="noStrike" dirty="0">
                        <a:solidFill>
                          <a:schemeClr val="accent2">
                            <a:lumMod val="75000"/>
                          </a:schemeClr>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2272165449"/>
                  </a:ext>
                </a:extLst>
              </a:tr>
              <a:tr h="417377">
                <a:tc>
                  <a:txBody>
                    <a:bodyPr/>
                    <a:lstStyle/>
                    <a:p>
                      <a:pPr algn="l" fontAlgn="b"/>
                      <a:endParaRPr lang="en-IN" sz="1400" b="1" i="0" u="none" strike="noStrike" dirty="0">
                        <a:solidFill>
                          <a:schemeClr val="accent2">
                            <a:lumMod val="75000"/>
                          </a:schemeClr>
                        </a:solidFill>
                        <a:effectLst/>
                        <a:latin typeface="Arial" panose="020B0604020202020204" pitchFamily="34" charset="0"/>
                      </a:endParaRPr>
                    </a:p>
                  </a:txBody>
                  <a:tcPr marL="7620" marR="7620" marT="7620" marB="0" anchor="b">
                    <a:lnL>
                      <a:noFill/>
                    </a:lnL>
                    <a:lnR>
                      <a:noFill/>
                    </a:lnR>
                    <a:lnT>
                      <a:noFill/>
                    </a:lnT>
                    <a:lnB>
                      <a:noFill/>
                    </a:lnB>
                  </a:tcPr>
                </a:tc>
                <a:tc gridSpan="2">
                  <a:txBody>
                    <a:bodyPr/>
                    <a:lstStyle/>
                    <a:p>
                      <a:pPr algn="l" fontAlgn="b"/>
                      <a:r>
                        <a:rPr lang="en-US" sz="1400" b="1" i="0" u="none" strike="noStrike" dirty="0">
                          <a:solidFill>
                            <a:schemeClr val="accent2">
                              <a:lumMod val="75000"/>
                            </a:schemeClr>
                          </a:solidFill>
                          <a:effectLst/>
                          <a:latin typeface="Arial" panose="020B0604020202020204" pitchFamily="34" charset="0"/>
                        </a:rPr>
                        <a:t> We do not reject Ho. </a:t>
                      </a:r>
                    </a:p>
                  </a:txBody>
                  <a:tcPr marL="7620" marR="7620" marT="7620" marB="0" anchor="b">
                    <a:lnL>
                      <a:noFill/>
                    </a:lnL>
                    <a:lnR>
                      <a:noFill/>
                    </a:lnR>
                    <a:lnT>
                      <a:noFill/>
                    </a:lnT>
                    <a:lnB>
                      <a:noFill/>
                    </a:lnB>
                  </a:tcPr>
                </a:tc>
                <a:tc hMerge="1">
                  <a:txBody>
                    <a:bodyPr/>
                    <a:lstStyle/>
                    <a:p>
                      <a:endParaRPr lang="en-IN"/>
                    </a:p>
                  </a:txBody>
                  <a:tcPr>
                    <a:lnL>
                      <a:noFill/>
                    </a:lnL>
                    <a:lnR>
                      <a:noFill/>
                    </a:lnR>
                    <a:lnT>
                      <a:noFill/>
                    </a:lnT>
                    <a:lnB>
                      <a:noFill/>
                    </a:lnB>
                  </a:tcPr>
                </a:tc>
                <a:tc>
                  <a:txBody>
                    <a:bodyPr/>
                    <a:lstStyle/>
                    <a:p>
                      <a:pPr algn="l" fontAlgn="b"/>
                      <a:endParaRPr lang="en-IN" sz="1400" b="1" i="0" u="none" strike="noStrike" dirty="0">
                        <a:solidFill>
                          <a:schemeClr val="accent2">
                            <a:lumMod val="75000"/>
                          </a:schemeClr>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400" b="1" i="0" u="none" strike="noStrike" dirty="0">
                        <a:solidFill>
                          <a:schemeClr val="accent2">
                            <a:lumMod val="75000"/>
                          </a:schemeClr>
                        </a:solidFill>
                        <a:effectLst/>
                        <a:latin typeface="Arial" panose="020B0604020202020204" pitchFamily="34" charset="0"/>
                      </a:endParaRPr>
                    </a:p>
                  </a:txBody>
                  <a:tcPr marL="7620" marR="7620" marT="7620" marB="0" anchor="b">
                    <a:lnL>
                      <a:noFill/>
                    </a:lnL>
                    <a:lnR>
                      <a:noFill/>
                    </a:lnR>
                    <a:lnT>
                      <a:noFill/>
                    </a:lnT>
                    <a:lnB>
                      <a:noFill/>
                    </a:lnB>
                  </a:tcPr>
                </a:tc>
                <a:tc>
                  <a:txBody>
                    <a:bodyPr/>
                    <a:lstStyle/>
                    <a:p>
                      <a:pPr algn="l" fontAlgn="b"/>
                      <a:endParaRPr lang="en-IN" sz="1400" b="1" i="0" u="none" strike="noStrike" dirty="0">
                        <a:solidFill>
                          <a:schemeClr val="accent2">
                            <a:lumMod val="75000"/>
                          </a:schemeClr>
                        </a:solidFill>
                        <a:effectLst/>
                        <a:latin typeface="Arial" panose="020B060402020202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552736277"/>
                  </a:ext>
                </a:extLst>
              </a:tr>
              <a:tr h="417377">
                <a:tc>
                  <a:txBody>
                    <a:bodyPr/>
                    <a:lstStyle/>
                    <a:p>
                      <a:pPr algn="l" fontAlgn="b"/>
                      <a:endParaRPr lang="en-IN" sz="1400" b="1" i="0" u="none" strike="noStrike" dirty="0">
                        <a:solidFill>
                          <a:schemeClr val="accent2">
                            <a:lumMod val="75000"/>
                          </a:schemeClr>
                        </a:solidFill>
                        <a:effectLst/>
                        <a:latin typeface="Arial" panose="020B0604020202020204" pitchFamily="34" charset="0"/>
                      </a:endParaRPr>
                    </a:p>
                  </a:txBody>
                  <a:tcPr marL="7620" marR="7620" marT="7620" marB="0" anchor="b">
                    <a:lnL>
                      <a:noFill/>
                    </a:lnL>
                    <a:lnR>
                      <a:noFill/>
                    </a:lnR>
                    <a:lnT>
                      <a:noFill/>
                    </a:lnT>
                    <a:lnB>
                      <a:noFill/>
                    </a:lnB>
                  </a:tcPr>
                </a:tc>
                <a:tc gridSpan="5">
                  <a:txBody>
                    <a:bodyPr/>
                    <a:lstStyle/>
                    <a:p>
                      <a:pPr algn="l" fontAlgn="b"/>
                      <a:r>
                        <a:rPr lang="en-US" sz="1400" b="1" i="0" u="none" strike="noStrike" dirty="0">
                          <a:solidFill>
                            <a:schemeClr val="accent2">
                              <a:lumMod val="75000"/>
                            </a:schemeClr>
                          </a:solidFill>
                          <a:effectLst/>
                          <a:latin typeface="Arial" panose="020B0604020202020204" pitchFamily="34" charset="0"/>
                        </a:rPr>
                        <a:t>Therefore, there is no association between age and the frequency with which they use the internet.</a:t>
                      </a:r>
                    </a:p>
                  </a:txBody>
                  <a:tcPr marL="7620" marR="7620" marT="7620" marB="0" anchor="b">
                    <a:lnL>
                      <a:noFill/>
                    </a:lnL>
                    <a:lnR>
                      <a:noFill/>
                    </a:lnR>
                    <a:lnT>
                      <a:noFill/>
                    </a:lnT>
                    <a:lnB>
                      <a:noFill/>
                    </a:lnB>
                  </a:tcPr>
                </a:tc>
                <a:tc hMerge="1">
                  <a:txBody>
                    <a:bodyPr/>
                    <a:lstStyle/>
                    <a:p>
                      <a:endParaRPr lang="en-IN"/>
                    </a:p>
                  </a:txBody>
                  <a:tcPr>
                    <a:lnL>
                      <a:noFill/>
                    </a:lnL>
                    <a:lnR>
                      <a:noFill/>
                    </a:lnR>
                    <a:lnT>
                      <a:noFill/>
                    </a:lnT>
                    <a:lnB>
                      <a:noFill/>
                    </a:lnB>
                  </a:tcPr>
                </a:tc>
                <a:tc hMerge="1">
                  <a:txBody>
                    <a:bodyPr/>
                    <a:lstStyle/>
                    <a:p>
                      <a:endParaRPr lang="en-IN"/>
                    </a:p>
                  </a:txBody>
                  <a:tcPr>
                    <a:lnL>
                      <a:noFill/>
                    </a:lnL>
                    <a:lnR>
                      <a:noFill/>
                    </a:lnR>
                    <a:lnT>
                      <a:noFill/>
                    </a:lnT>
                    <a:lnB>
                      <a:noFill/>
                    </a:lnB>
                  </a:tcPr>
                </a:tc>
                <a:tc hMerge="1">
                  <a:txBody>
                    <a:bodyPr/>
                    <a:lstStyle/>
                    <a:p>
                      <a:endParaRPr lang="en-IN"/>
                    </a:p>
                  </a:txBody>
                  <a:tcPr>
                    <a:lnL w="12700" cmpd="sng">
                      <a:noFill/>
                      <a:prstDash val="solid"/>
                    </a:lnL>
                    <a:lnT w="12700" cmpd="sng">
                      <a:noFill/>
                      <a:prstDash val="solid"/>
                    </a:lnT>
                  </a:tcPr>
                </a:tc>
                <a:tc hMerge="1">
                  <a:txBody>
                    <a:bodyPr/>
                    <a:lstStyle/>
                    <a:p>
                      <a:endParaRPr lang="en-IN"/>
                    </a:p>
                  </a:txBody>
                  <a:tcPr/>
                </a:tc>
                <a:extLst>
                  <a:ext uri="{0D108BD9-81ED-4DB2-BD59-A6C34878D82A}">
                    <a16:rowId xmlns:a16="http://schemas.microsoft.com/office/drawing/2014/main" val="2901937144"/>
                  </a:ext>
                </a:extLst>
              </a:tr>
            </a:tbl>
          </a:graphicData>
        </a:graphic>
      </p:graphicFrame>
      <p:graphicFrame>
        <p:nvGraphicFramePr>
          <p:cNvPr id="8" name="Table 7">
            <a:extLst>
              <a:ext uri="{FF2B5EF4-FFF2-40B4-BE49-F238E27FC236}">
                <a16:creationId xmlns:a16="http://schemas.microsoft.com/office/drawing/2014/main" id="{EBDDBD89-BCD0-4A61-A876-E4238EA400CB}"/>
              </a:ext>
            </a:extLst>
          </p:cNvPr>
          <p:cNvGraphicFramePr>
            <a:graphicFrameLocks noGrp="1"/>
          </p:cNvGraphicFramePr>
          <p:nvPr>
            <p:extLst>
              <p:ext uri="{D42A27DB-BD31-4B8C-83A1-F6EECF244321}">
                <p14:modId xmlns:p14="http://schemas.microsoft.com/office/powerpoint/2010/main" val="3178295977"/>
              </p:ext>
            </p:extLst>
          </p:nvPr>
        </p:nvGraphicFramePr>
        <p:xfrm>
          <a:off x="2690446" y="3429000"/>
          <a:ext cx="8845063" cy="1113692"/>
        </p:xfrm>
        <a:graphic>
          <a:graphicData uri="http://schemas.openxmlformats.org/drawingml/2006/table">
            <a:tbl>
              <a:tblPr/>
              <a:tblGrid>
                <a:gridCol w="2234542">
                  <a:extLst>
                    <a:ext uri="{9D8B030D-6E8A-4147-A177-3AD203B41FA5}">
                      <a16:colId xmlns:a16="http://schemas.microsoft.com/office/drawing/2014/main" val="719180134"/>
                    </a:ext>
                  </a:extLst>
                </a:gridCol>
                <a:gridCol w="3041460">
                  <a:extLst>
                    <a:ext uri="{9D8B030D-6E8A-4147-A177-3AD203B41FA5}">
                      <a16:colId xmlns:a16="http://schemas.microsoft.com/office/drawing/2014/main" val="3352761356"/>
                    </a:ext>
                  </a:extLst>
                </a:gridCol>
                <a:gridCol w="1675907">
                  <a:extLst>
                    <a:ext uri="{9D8B030D-6E8A-4147-A177-3AD203B41FA5}">
                      <a16:colId xmlns:a16="http://schemas.microsoft.com/office/drawing/2014/main" val="1685161283"/>
                    </a:ext>
                  </a:extLst>
                </a:gridCol>
                <a:gridCol w="1893154">
                  <a:extLst>
                    <a:ext uri="{9D8B030D-6E8A-4147-A177-3AD203B41FA5}">
                      <a16:colId xmlns:a16="http://schemas.microsoft.com/office/drawing/2014/main" val="1926048731"/>
                    </a:ext>
                  </a:extLst>
                </a:gridCol>
              </a:tblGrid>
              <a:tr h="229772">
                <a:tc>
                  <a:txBody>
                    <a:bodyPr/>
                    <a:lstStyle/>
                    <a:p>
                      <a:pPr algn="l" fontAlgn="b"/>
                      <a:r>
                        <a:rPr lang="en-IN" sz="1400" b="1" i="0" u="none" strike="noStrike" dirty="0">
                          <a:solidFill>
                            <a:srgbClr val="000000"/>
                          </a:solidFill>
                          <a:effectLst/>
                          <a:latin typeface="Arial" panose="020B0604020202020204" pitchFamily="34" charset="0"/>
                        </a:rPr>
                        <a:t>Row Labels</a:t>
                      </a:r>
                    </a:p>
                  </a:txBody>
                  <a:tcPr marL="7620" marR="7620" marT="7620" marB="0" anchor="b">
                    <a:lnL>
                      <a:noFill/>
                    </a:lnL>
                    <a:lnR>
                      <a:noFill/>
                    </a:lnR>
                    <a:lnT>
                      <a:noFill/>
                    </a:lnT>
                    <a:lnB>
                      <a:noFill/>
                    </a:lnB>
                    <a:solidFill>
                      <a:srgbClr val="B3CEFB"/>
                    </a:solidFill>
                  </a:tcPr>
                </a:tc>
                <a:tc>
                  <a:txBody>
                    <a:bodyPr/>
                    <a:lstStyle/>
                    <a:p>
                      <a:pPr algn="ctr" fontAlgn="b"/>
                      <a:r>
                        <a:rPr lang="en-IN" sz="1400" b="1" i="0" u="none" strike="noStrike" dirty="0">
                          <a:solidFill>
                            <a:srgbClr val="000000"/>
                          </a:solidFill>
                          <a:effectLst/>
                          <a:latin typeface="Arial" panose="020B0604020202020204" pitchFamily="34" charset="0"/>
                        </a:rPr>
                        <a:t>No</a:t>
                      </a:r>
                    </a:p>
                  </a:txBody>
                  <a:tcPr marL="7620" marR="7620" marT="7620" marB="0" anchor="b">
                    <a:lnL>
                      <a:noFill/>
                    </a:lnL>
                    <a:lnR>
                      <a:noFill/>
                    </a:lnR>
                    <a:lnT>
                      <a:noFill/>
                    </a:lnT>
                    <a:lnB>
                      <a:noFill/>
                    </a:lnB>
                    <a:solidFill>
                      <a:srgbClr val="B3CEFB"/>
                    </a:solidFill>
                  </a:tcPr>
                </a:tc>
                <a:tc>
                  <a:txBody>
                    <a:bodyPr/>
                    <a:lstStyle/>
                    <a:p>
                      <a:pPr algn="ctr" fontAlgn="b"/>
                      <a:r>
                        <a:rPr lang="en-IN" sz="1400" b="1" i="0" u="none" strike="noStrike" dirty="0">
                          <a:solidFill>
                            <a:srgbClr val="000000"/>
                          </a:solidFill>
                          <a:effectLst/>
                          <a:latin typeface="Arial" panose="020B0604020202020204" pitchFamily="34" charset="0"/>
                        </a:rPr>
                        <a:t>Yes</a:t>
                      </a:r>
                    </a:p>
                  </a:txBody>
                  <a:tcPr marL="7620" marR="7620" marT="7620" marB="0" anchor="b">
                    <a:lnL>
                      <a:noFill/>
                    </a:lnL>
                    <a:lnR>
                      <a:noFill/>
                    </a:lnR>
                    <a:lnT>
                      <a:noFill/>
                    </a:lnT>
                    <a:lnB>
                      <a:noFill/>
                    </a:lnB>
                    <a:solidFill>
                      <a:srgbClr val="B3CEFB"/>
                    </a:solidFill>
                  </a:tcPr>
                </a:tc>
                <a:tc>
                  <a:txBody>
                    <a:bodyPr/>
                    <a:lstStyle/>
                    <a:p>
                      <a:pPr algn="l" fontAlgn="b"/>
                      <a:r>
                        <a:rPr lang="en-IN" sz="1400" b="1" i="0" u="none" strike="noStrike">
                          <a:solidFill>
                            <a:srgbClr val="000000"/>
                          </a:solidFill>
                          <a:effectLst/>
                          <a:latin typeface="Arial" panose="020B0604020202020204" pitchFamily="34" charset="0"/>
                        </a:rPr>
                        <a:t>Grand Total</a:t>
                      </a:r>
                    </a:p>
                  </a:txBody>
                  <a:tcPr marL="7620" marR="7620" marT="7620" marB="0" anchor="b">
                    <a:lnL>
                      <a:noFill/>
                    </a:lnL>
                    <a:lnR>
                      <a:noFill/>
                    </a:lnR>
                    <a:lnT>
                      <a:noFill/>
                    </a:lnT>
                    <a:lnB>
                      <a:noFill/>
                    </a:lnB>
                    <a:solidFill>
                      <a:srgbClr val="B3CEFB"/>
                    </a:solidFill>
                  </a:tcPr>
                </a:tc>
                <a:extLst>
                  <a:ext uri="{0D108BD9-81ED-4DB2-BD59-A6C34878D82A}">
                    <a16:rowId xmlns:a16="http://schemas.microsoft.com/office/drawing/2014/main" val="2664312210"/>
                  </a:ext>
                </a:extLst>
              </a:tr>
              <a:tr h="213360">
                <a:tc>
                  <a:txBody>
                    <a:bodyPr/>
                    <a:lstStyle/>
                    <a:p>
                      <a:pPr algn="ctr" fontAlgn="b"/>
                      <a:r>
                        <a:rPr lang="en-IN" sz="1400" b="1" i="0" u="none" strike="noStrike" dirty="0">
                          <a:solidFill>
                            <a:srgbClr val="000000"/>
                          </a:solidFill>
                          <a:effectLst/>
                          <a:latin typeface="Arial" panose="020B0604020202020204" pitchFamily="34" charset="0"/>
                        </a:rPr>
                        <a:t>1</a:t>
                      </a:r>
                    </a:p>
                  </a:txBody>
                  <a:tcPr marL="7620" marR="7620" marT="7620" marB="0" anchor="b">
                    <a:lnL>
                      <a:noFill/>
                    </a:lnL>
                    <a:lnR>
                      <a:noFill/>
                    </a:lnR>
                    <a:lnT>
                      <a:noFill/>
                    </a:lnT>
                    <a:lnB>
                      <a:noFill/>
                    </a:lnB>
                  </a:tcPr>
                </a:tc>
                <a:tc>
                  <a:txBody>
                    <a:bodyPr/>
                    <a:lstStyle/>
                    <a:p>
                      <a:pPr algn="ctr" fontAlgn="b"/>
                      <a:r>
                        <a:rPr lang="en-IN" sz="1400" b="1" i="0" u="none" strike="noStrike" dirty="0">
                          <a:solidFill>
                            <a:srgbClr val="000000"/>
                          </a:solidFill>
                          <a:effectLst/>
                          <a:latin typeface="Arial" panose="020B0604020202020204" pitchFamily="34" charset="0"/>
                        </a:rPr>
                        <a:t>1.331707317</a:t>
                      </a:r>
                    </a:p>
                  </a:txBody>
                  <a:tcPr marL="7620" marR="7620" marT="7620" marB="0" anchor="b">
                    <a:lnL>
                      <a:noFill/>
                    </a:lnL>
                    <a:lnR>
                      <a:noFill/>
                    </a:lnR>
                    <a:lnT>
                      <a:noFill/>
                    </a:lnT>
                    <a:lnB>
                      <a:noFill/>
                    </a:lnB>
                  </a:tcPr>
                </a:tc>
                <a:tc>
                  <a:txBody>
                    <a:bodyPr/>
                    <a:lstStyle/>
                    <a:p>
                      <a:pPr algn="ctr" fontAlgn="b"/>
                      <a:r>
                        <a:rPr lang="en-IN" sz="1400" b="1" i="0" u="none" strike="noStrike">
                          <a:solidFill>
                            <a:srgbClr val="000000"/>
                          </a:solidFill>
                          <a:effectLst/>
                          <a:latin typeface="Arial" panose="020B0604020202020204" pitchFamily="34" charset="0"/>
                        </a:rPr>
                        <a:t>11.668293</a:t>
                      </a:r>
                    </a:p>
                  </a:txBody>
                  <a:tcPr marL="7620" marR="7620" marT="7620" marB="0" anchor="b">
                    <a:lnL>
                      <a:noFill/>
                    </a:lnL>
                    <a:lnR>
                      <a:noFill/>
                    </a:lnR>
                    <a:lnT>
                      <a:noFill/>
                    </a:lnT>
                    <a:lnB>
                      <a:noFill/>
                    </a:lnB>
                  </a:tcPr>
                </a:tc>
                <a:tc>
                  <a:txBody>
                    <a:bodyPr/>
                    <a:lstStyle/>
                    <a:p>
                      <a:pPr algn="r" fontAlgn="b"/>
                      <a:r>
                        <a:rPr lang="en-IN" sz="1400" b="1" i="0" u="none" strike="noStrike" dirty="0">
                          <a:solidFill>
                            <a:srgbClr val="000000"/>
                          </a:solidFill>
                          <a:effectLst/>
                          <a:latin typeface="Arial" panose="020B0604020202020204" pitchFamily="34" charset="0"/>
                        </a:rPr>
                        <a:t>13</a:t>
                      </a:r>
                    </a:p>
                  </a:txBody>
                  <a:tcPr marL="7620" marR="7620" marT="7620" marB="0" anchor="b">
                    <a:lnL>
                      <a:noFill/>
                    </a:lnL>
                    <a:lnR>
                      <a:noFill/>
                    </a:lnR>
                    <a:lnT>
                      <a:noFill/>
                    </a:lnT>
                    <a:lnB>
                      <a:noFill/>
                    </a:lnB>
                  </a:tcPr>
                </a:tc>
                <a:extLst>
                  <a:ext uri="{0D108BD9-81ED-4DB2-BD59-A6C34878D82A}">
                    <a16:rowId xmlns:a16="http://schemas.microsoft.com/office/drawing/2014/main" val="874106462"/>
                  </a:ext>
                </a:extLst>
              </a:tr>
              <a:tr h="213360">
                <a:tc>
                  <a:txBody>
                    <a:bodyPr/>
                    <a:lstStyle/>
                    <a:p>
                      <a:pPr algn="ctr" fontAlgn="b"/>
                      <a:r>
                        <a:rPr lang="en-IN" sz="1400" b="1" i="0" u="none" strike="noStrike" dirty="0">
                          <a:solidFill>
                            <a:srgbClr val="000000"/>
                          </a:solidFill>
                          <a:effectLst/>
                          <a:latin typeface="Arial" panose="020B0604020202020204" pitchFamily="34" charset="0"/>
                        </a:rPr>
                        <a:t>2</a:t>
                      </a:r>
                    </a:p>
                  </a:txBody>
                  <a:tcPr marL="7620" marR="7620" marT="7620" marB="0" anchor="b">
                    <a:lnL>
                      <a:noFill/>
                    </a:lnL>
                    <a:lnR>
                      <a:noFill/>
                    </a:lnR>
                    <a:lnT>
                      <a:noFill/>
                    </a:lnT>
                    <a:lnB>
                      <a:noFill/>
                    </a:lnB>
                    <a:solidFill>
                      <a:srgbClr val="B3CEFB"/>
                    </a:solidFill>
                  </a:tcPr>
                </a:tc>
                <a:tc>
                  <a:txBody>
                    <a:bodyPr/>
                    <a:lstStyle/>
                    <a:p>
                      <a:pPr algn="ctr" fontAlgn="b"/>
                      <a:r>
                        <a:rPr lang="en-IN" sz="1400" b="1" i="0" u="none" strike="noStrike" dirty="0">
                          <a:solidFill>
                            <a:srgbClr val="000000"/>
                          </a:solidFill>
                          <a:effectLst/>
                          <a:latin typeface="Arial" panose="020B0604020202020204" pitchFamily="34" charset="0"/>
                        </a:rPr>
                        <a:t>14.13658537</a:t>
                      </a:r>
                    </a:p>
                  </a:txBody>
                  <a:tcPr marL="7620" marR="7620" marT="7620" marB="0" anchor="b">
                    <a:lnL>
                      <a:noFill/>
                    </a:lnL>
                    <a:lnR>
                      <a:noFill/>
                    </a:lnR>
                    <a:lnT>
                      <a:noFill/>
                    </a:lnT>
                    <a:lnB>
                      <a:noFill/>
                    </a:lnB>
                    <a:solidFill>
                      <a:srgbClr val="B3CEFB"/>
                    </a:solidFill>
                  </a:tcPr>
                </a:tc>
                <a:tc>
                  <a:txBody>
                    <a:bodyPr/>
                    <a:lstStyle/>
                    <a:p>
                      <a:pPr algn="ctr" fontAlgn="b"/>
                      <a:r>
                        <a:rPr lang="en-IN" sz="1400" b="1" i="0" u="none" strike="noStrike" dirty="0">
                          <a:solidFill>
                            <a:srgbClr val="000000"/>
                          </a:solidFill>
                          <a:effectLst/>
                          <a:latin typeface="Arial" panose="020B0604020202020204" pitchFamily="34" charset="0"/>
                        </a:rPr>
                        <a:t>123.86341</a:t>
                      </a:r>
                    </a:p>
                  </a:txBody>
                  <a:tcPr marL="7620" marR="7620" marT="7620" marB="0" anchor="b">
                    <a:lnL>
                      <a:noFill/>
                    </a:lnL>
                    <a:lnR>
                      <a:noFill/>
                    </a:lnR>
                    <a:lnT>
                      <a:noFill/>
                    </a:lnT>
                    <a:lnB>
                      <a:noFill/>
                    </a:lnB>
                    <a:solidFill>
                      <a:srgbClr val="B3CEFB"/>
                    </a:solidFill>
                  </a:tcPr>
                </a:tc>
                <a:tc>
                  <a:txBody>
                    <a:bodyPr/>
                    <a:lstStyle/>
                    <a:p>
                      <a:pPr algn="r" fontAlgn="b"/>
                      <a:r>
                        <a:rPr lang="en-IN" sz="1400" b="1" i="0" u="none" strike="noStrike">
                          <a:solidFill>
                            <a:srgbClr val="000000"/>
                          </a:solidFill>
                          <a:effectLst/>
                          <a:latin typeface="Arial" panose="020B0604020202020204" pitchFamily="34" charset="0"/>
                        </a:rPr>
                        <a:t>138</a:t>
                      </a:r>
                    </a:p>
                  </a:txBody>
                  <a:tcPr marL="7620" marR="7620" marT="7620" marB="0" anchor="b">
                    <a:lnL>
                      <a:noFill/>
                    </a:lnL>
                    <a:lnR>
                      <a:noFill/>
                    </a:lnR>
                    <a:lnT>
                      <a:noFill/>
                    </a:lnT>
                    <a:lnB>
                      <a:noFill/>
                    </a:lnB>
                    <a:solidFill>
                      <a:srgbClr val="B3CEFB"/>
                    </a:solidFill>
                  </a:tcPr>
                </a:tc>
                <a:extLst>
                  <a:ext uri="{0D108BD9-81ED-4DB2-BD59-A6C34878D82A}">
                    <a16:rowId xmlns:a16="http://schemas.microsoft.com/office/drawing/2014/main" val="3226878748"/>
                  </a:ext>
                </a:extLst>
              </a:tr>
              <a:tr h="213360">
                <a:tc>
                  <a:txBody>
                    <a:bodyPr/>
                    <a:lstStyle/>
                    <a:p>
                      <a:pPr algn="ctr" fontAlgn="b"/>
                      <a:r>
                        <a:rPr lang="en-IN" sz="1400" b="1" i="0" u="none" strike="noStrike" dirty="0">
                          <a:solidFill>
                            <a:srgbClr val="000000"/>
                          </a:solidFill>
                          <a:effectLst/>
                          <a:latin typeface="Arial" panose="020B0604020202020204" pitchFamily="34" charset="0"/>
                        </a:rPr>
                        <a:t>3</a:t>
                      </a:r>
                    </a:p>
                  </a:txBody>
                  <a:tcPr marL="7620" marR="7620" marT="7620" marB="0" anchor="b">
                    <a:lnL>
                      <a:noFill/>
                    </a:lnL>
                    <a:lnR>
                      <a:noFill/>
                    </a:lnR>
                    <a:lnT>
                      <a:noFill/>
                    </a:lnT>
                    <a:lnB>
                      <a:noFill/>
                    </a:lnB>
                  </a:tcPr>
                </a:tc>
                <a:tc>
                  <a:txBody>
                    <a:bodyPr/>
                    <a:lstStyle/>
                    <a:p>
                      <a:pPr algn="ctr" fontAlgn="b"/>
                      <a:r>
                        <a:rPr lang="en-IN" sz="1400" b="1" i="0" u="none" strike="noStrike" dirty="0">
                          <a:solidFill>
                            <a:srgbClr val="000000"/>
                          </a:solidFill>
                          <a:effectLst/>
                          <a:latin typeface="Arial" panose="020B0604020202020204" pitchFamily="34" charset="0"/>
                        </a:rPr>
                        <a:t>5.531707317</a:t>
                      </a:r>
                    </a:p>
                  </a:txBody>
                  <a:tcPr marL="7620" marR="7620" marT="7620" marB="0" anchor="b">
                    <a:lnL>
                      <a:noFill/>
                    </a:lnL>
                    <a:lnR>
                      <a:noFill/>
                    </a:lnR>
                    <a:lnT>
                      <a:noFill/>
                    </a:lnT>
                    <a:lnB>
                      <a:noFill/>
                    </a:lnB>
                  </a:tcPr>
                </a:tc>
                <a:tc>
                  <a:txBody>
                    <a:bodyPr/>
                    <a:lstStyle/>
                    <a:p>
                      <a:pPr algn="ctr" fontAlgn="b"/>
                      <a:r>
                        <a:rPr lang="en-IN" sz="1400" b="1" i="0" u="none" strike="noStrike" dirty="0">
                          <a:solidFill>
                            <a:srgbClr val="000000"/>
                          </a:solidFill>
                          <a:effectLst/>
                          <a:latin typeface="Arial" panose="020B0604020202020204" pitchFamily="34" charset="0"/>
                        </a:rPr>
                        <a:t>48.468293</a:t>
                      </a:r>
                    </a:p>
                  </a:txBody>
                  <a:tcPr marL="7620" marR="7620" marT="7620" marB="0" anchor="b">
                    <a:lnL>
                      <a:noFill/>
                    </a:lnL>
                    <a:lnR>
                      <a:noFill/>
                    </a:lnR>
                    <a:lnT>
                      <a:noFill/>
                    </a:lnT>
                    <a:lnB>
                      <a:noFill/>
                    </a:lnB>
                  </a:tcPr>
                </a:tc>
                <a:tc>
                  <a:txBody>
                    <a:bodyPr/>
                    <a:lstStyle/>
                    <a:p>
                      <a:pPr algn="r" fontAlgn="b"/>
                      <a:r>
                        <a:rPr lang="en-IN" sz="1400" b="1" i="0" u="none" strike="noStrike">
                          <a:solidFill>
                            <a:srgbClr val="000000"/>
                          </a:solidFill>
                          <a:effectLst/>
                          <a:latin typeface="Arial" panose="020B0604020202020204" pitchFamily="34" charset="0"/>
                        </a:rPr>
                        <a:t>54</a:t>
                      </a:r>
                    </a:p>
                  </a:txBody>
                  <a:tcPr marL="7620" marR="7620" marT="7620" marB="0" anchor="b">
                    <a:lnL>
                      <a:noFill/>
                    </a:lnL>
                    <a:lnR>
                      <a:noFill/>
                    </a:lnR>
                    <a:lnT>
                      <a:noFill/>
                    </a:lnT>
                    <a:lnB>
                      <a:noFill/>
                    </a:lnB>
                  </a:tcPr>
                </a:tc>
                <a:extLst>
                  <a:ext uri="{0D108BD9-81ED-4DB2-BD59-A6C34878D82A}">
                    <a16:rowId xmlns:a16="http://schemas.microsoft.com/office/drawing/2014/main" val="3078925654"/>
                  </a:ext>
                </a:extLst>
              </a:tr>
              <a:tr h="213360">
                <a:tc>
                  <a:txBody>
                    <a:bodyPr/>
                    <a:lstStyle/>
                    <a:p>
                      <a:pPr algn="l" fontAlgn="b"/>
                      <a:r>
                        <a:rPr lang="en-IN" sz="1400" b="1" i="0" u="none" strike="noStrike">
                          <a:solidFill>
                            <a:srgbClr val="000000"/>
                          </a:solidFill>
                          <a:effectLst/>
                          <a:latin typeface="Arial" panose="020B0604020202020204" pitchFamily="34" charset="0"/>
                        </a:rPr>
                        <a:t>Grand Total</a:t>
                      </a:r>
                    </a:p>
                  </a:txBody>
                  <a:tcPr marL="7620" marR="7620" marT="7620" marB="0" anchor="b">
                    <a:lnL>
                      <a:noFill/>
                    </a:lnL>
                    <a:lnR>
                      <a:noFill/>
                    </a:lnR>
                    <a:lnT>
                      <a:noFill/>
                    </a:lnT>
                    <a:lnB>
                      <a:noFill/>
                    </a:lnB>
                    <a:solidFill>
                      <a:srgbClr val="B3CEFB"/>
                    </a:solidFill>
                  </a:tcPr>
                </a:tc>
                <a:tc>
                  <a:txBody>
                    <a:bodyPr/>
                    <a:lstStyle/>
                    <a:p>
                      <a:pPr algn="ctr" fontAlgn="b"/>
                      <a:r>
                        <a:rPr lang="en-IN" sz="1400" b="1" i="0" u="none" strike="noStrike" dirty="0">
                          <a:solidFill>
                            <a:srgbClr val="000000"/>
                          </a:solidFill>
                          <a:effectLst/>
                          <a:latin typeface="Arial" panose="020B0604020202020204" pitchFamily="34" charset="0"/>
                        </a:rPr>
                        <a:t>21</a:t>
                      </a:r>
                    </a:p>
                  </a:txBody>
                  <a:tcPr marL="7620" marR="7620" marT="7620" marB="0" anchor="b">
                    <a:lnL>
                      <a:noFill/>
                    </a:lnL>
                    <a:lnR>
                      <a:noFill/>
                    </a:lnR>
                    <a:lnT>
                      <a:noFill/>
                    </a:lnT>
                    <a:lnB>
                      <a:noFill/>
                    </a:lnB>
                    <a:solidFill>
                      <a:srgbClr val="B3CEFB"/>
                    </a:solidFill>
                  </a:tcPr>
                </a:tc>
                <a:tc>
                  <a:txBody>
                    <a:bodyPr/>
                    <a:lstStyle/>
                    <a:p>
                      <a:pPr algn="ctr" fontAlgn="b"/>
                      <a:r>
                        <a:rPr lang="en-IN" sz="1400" b="1" i="0" u="none" strike="noStrike" dirty="0">
                          <a:solidFill>
                            <a:srgbClr val="000000"/>
                          </a:solidFill>
                          <a:effectLst/>
                          <a:latin typeface="Arial" panose="020B0604020202020204" pitchFamily="34" charset="0"/>
                        </a:rPr>
                        <a:t>184</a:t>
                      </a:r>
                    </a:p>
                  </a:txBody>
                  <a:tcPr marL="7620" marR="7620" marT="7620" marB="0" anchor="b">
                    <a:lnL>
                      <a:noFill/>
                    </a:lnL>
                    <a:lnR>
                      <a:noFill/>
                    </a:lnR>
                    <a:lnT>
                      <a:noFill/>
                    </a:lnT>
                    <a:lnB>
                      <a:noFill/>
                    </a:lnB>
                    <a:solidFill>
                      <a:srgbClr val="B3CEFB"/>
                    </a:solidFill>
                  </a:tcPr>
                </a:tc>
                <a:tc>
                  <a:txBody>
                    <a:bodyPr/>
                    <a:lstStyle/>
                    <a:p>
                      <a:pPr algn="r" fontAlgn="b"/>
                      <a:r>
                        <a:rPr lang="en-IN" sz="1400" b="1" i="0" u="none" strike="noStrike" dirty="0">
                          <a:solidFill>
                            <a:srgbClr val="000000"/>
                          </a:solidFill>
                          <a:effectLst/>
                          <a:latin typeface="Arial" panose="020B0604020202020204" pitchFamily="34" charset="0"/>
                        </a:rPr>
                        <a:t>205</a:t>
                      </a:r>
                    </a:p>
                  </a:txBody>
                  <a:tcPr marL="7620" marR="7620" marT="7620" marB="0" anchor="b">
                    <a:lnL>
                      <a:noFill/>
                    </a:lnL>
                    <a:lnR>
                      <a:noFill/>
                    </a:lnR>
                    <a:lnT>
                      <a:noFill/>
                    </a:lnT>
                    <a:lnB>
                      <a:noFill/>
                    </a:lnB>
                    <a:solidFill>
                      <a:srgbClr val="B3CEFB"/>
                    </a:solidFill>
                  </a:tcPr>
                </a:tc>
                <a:extLst>
                  <a:ext uri="{0D108BD9-81ED-4DB2-BD59-A6C34878D82A}">
                    <a16:rowId xmlns:a16="http://schemas.microsoft.com/office/drawing/2014/main" val="1891449191"/>
                  </a:ext>
                </a:extLst>
              </a:tr>
            </a:tbl>
          </a:graphicData>
        </a:graphic>
      </p:graphicFrame>
      <p:graphicFrame>
        <p:nvGraphicFramePr>
          <p:cNvPr id="10" name="Table 9">
            <a:extLst>
              <a:ext uri="{FF2B5EF4-FFF2-40B4-BE49-F238E27FC236}">
                <a16:creationId xmlns:a16="http://schemas.microsoft.com/office/drawing/2014/main" id="{2727E31B-C9BD-4A3D-BBA8-624E8C8982D3}"/>
              </a:ext>
            </a:extLst>
          </p:cNvPr>
          <p:cNvGraphicFramePr>
            <a:graphicFrameLocks noGrp="1"/>
          </p:cNvGraphicFramePr>
          <p:nvPr>
            <p:extLst>
              <p:ext uri="{D42A27DB-BD31-4B8C-83A1-F6EECF244321}">
                <p14:modId xmlns:p14="http://schemas.microsoft.com/office/powerpoint/2010/main" val="634682407"/>
              </p:ext>
            </p:extLst>
          </p:nvPr>
        </p:nvGraphicFramePr>
        <p:xfrm>
          <a:off x="2224453" y="1461725"/>
          <a:ext cx="8493369" cy="1226525"/>
        </p:xfrm>
        <a:graphic>
          <a:graphicData uri="http://schemas.openxmlformats.org/drawingml/2006/table">
            <a:tbl>
              <a:tblPr/>
              <a:tblGrid>
                <a:gridCol w="2689021">
                  <a:extLst>
                    <a:ext uri="{9D8B030D-6E8A-4147-A177-3AD203B41FA5}">
                      <a16:colId xmlns:a16="http://schemas.microsoft.com/office/drawing/2014/main" val="2903827278"/>
                    </a:ext>
                  </a:extLst>
                </a:gridCol>
                <a:gridCol w="1574060">
                  <a:extLst>
                    <a:ext uri="{9D8B030D-6E8A-4147-A177-3AD203B41FA5}">
                      <a16:colId xmlns:a16="http://schemas.microsoft.com/office/drawing/2014/main" val="3061087557"/>
                    </a:ext>
                  </a:extLst>
                </a:gridCol>
                <a:gridCol w="1574060">
                  <a:extLst>
                    <a:ext uri="{9D8B030D-6E8A-4147-A177-3AD203B41FA5}">
                      <a16:colId xmlns:a16="http://schemas.microsoft.com/office/drawing/2014/main" val="3541004901"/>
                    </a:ext>
                  </a:extLst>
                </a:gridCol>
                <a:gridCol w="2656228">
                  <a:extLst>
                    <a:ext uri="{9D8B030D-6E8A-4147-A177-3AD203B41FA5}">
                      <a16:colId xmlns:a16="http://schemas.microsoft.com/office/drawing/2014/main" val="547669677"/>
                    </a:ext>
                  </a:extLst>
                </a:gridCol>
              </a:tblGrid>
              <a:tr h="245305">
                <a:tc>
                  <a:txBody>
                    <a:bodyPr/>
                    <a:lstStyle/>
                    <a:p>
                      <a:pPr algn="l" fontAlgn="b"/>
                      <a:r>
                        <a:rPr lang="en-IN" sz="1400" b="1" i="0" u="none" strike="noStrike" dirty="0">
                          <a:solidFill>
                            <a:srgbClr val="000000"/>
                          </a:solidFill>
                          <a:effectLst/>
                          <a:latin typeface="Arial" panose="020B0604020202020204" pitchFamily="34" charset="0"/>
                        </a:rPr>
                        <a:t>Row Labels</a:t>
                      </a:r>
                    </a:p>
                  </a:txBody>
                  <a:tcPr marL="7620" marR="7620" marT="7620" marB="0" anchor="b">
                    <a:lnL>
                      <a:noFill/>
                    </a:lnL>
                    <a:lnR>
                      <a:noFill/>
                    </a:lnR>
                    <a:lnT>
                      <a:noFill/>
                    </a:lnT>
                    <a:lnB w="6350" cap="flat" cmpd="sng" algn="ctr">
                      <a:solidFill>
                        <a:srgbClr val="8CB5F9"/>
                      </a:solidFill>
                      <a:prstDash val="solid"/>
                      <a:round/>
                      <a:headEnd type="none" w="med" len="med"/>
                      <a:tailEnd type="none" w="med" len="med"/>
                    </a:lnB>
                    <a:solidFill>
                      <a:srgbClr val="D9E7FD"/>
                    </a:solidFill>
                  </a:tcPr>
                </a:tc>
                <a:tc>
                  <a:txBody>
                    <a:bodyPr/>
                    <a:lstStyle/>
                    <a:p>
                      <a:pPr algn="ctr" fontAlgn="b"/>
                      <a:r>
                        <a:rPr lang="en-IN" sz="1400" b="1" i="0" u="none" strike="noStrike" dirty="0">
                          <a:solidFill>
                            <a:srgbClr val="000000"/>
                          </a:solidFill>
                          <a:effectLst/>
                          <a:latin typeface="Arial" panose="020B0604020202020204" pitchFamily="34" charset="0"/>
                        </a:rPr>
                        <a:t>No</a:t>
                      </a:r>
                    </a:p>
                  </a:txBody>
                  <a:tcPr marL="7620" marR="7620" marT="7620" marB="0" anchor="b">
                    <a:lnL>
                      <a:noFill/>
                    </a:lnL>
                    <a:lnR>
                      <a:noFill/>
                    </a:lnR>
                    <a:lnT>
                      <a:noFill/>
                    </a:lnT>
                    <a:lnB w="6350" cap="flat" cmpd="sng" algn="ctr">
                      <a:solidFill>
                        <a:srgbClr val="8CB5F9"/>
                      </a:solidFill>
                      <a:prstDash val="solid"/>
                      <a:round/>
                      <a:headEnd type="none" w="med" len="med"/>
                      <a:tailEnd type="none" w="med" len="med"/>
                    </a:lnB>
                    <a:solidFill>
                      <a:srgbClr val="D9E7FD"/>
                    </a:solidFill>
                  </a:tcPr>
                </a:tc>
                <a:tc>
                  <a:txBody>
                    <a:bodyPr/>
                    <a:lstStyle/>
                    <a:p>
                      <a:pPr algn="ctr" fontAlgn="b"/>
                      <a:r>
                        <a:rPr lang="en-IN" sz="1400" b="1" i="0" u="none" strike="noStrike" dirty="0">
                          <a:solidFill>
                            <a:srgbClr val="000000"/>
                          </a:solidFill>
                          <a:effectLst/>
                          <a:latin typeface="Arial" panose="020B0604020202020204" pitchFamily="34" charset="0"/>
                        </a:rPr>
                        <a:t>Yes</a:t>
                      </a:r>
                    </a:p>
                  </a:txBody>
                  <a:tcPr marL="7620" marR="7620" marT="7620" marB="0" anchor="b">
                    <a:lnL>
                      <a:noFill/>
                    </a:lnL>
                    <a:lnR>
                      <a:noFill/>
                    </a:lnR>
                    <a:lnT>
                      <a:noFill/>
                    </a:lnT>
                    <a:lnB w="6350" cap="flat" cmpd="sng" algn="ctr">
                      <a:solidFill>
                        <a:srgbClr val="8CB5F9"/>
                      </a:solidFill>
                      <a:prstDash val="solid"/>
                      <a:round/>
                      <a:headEnd type="none" w="med" len="med"/>
                      <a:tailEnd type="none" w="med" len="med"/>
                    </a:lnB>
                    <a:solidFill>
                      <a:srgbClr val="D9E7FD"/>
                    </a:solidFill>
                  </a:tcPr>
                </a:tc>
                <a:tc>
                  <a:txBody>
                    <a:bodyPr/>
                    <a:lstStyle/>
                    <a:p>
                      <a:pPr algn="ctr" fontAlgn="b"/>
                      <a:r>
                        <a:rPr lang="en-IN" sz="1400" b="1" i="0" u="none" strike="noStrike" dirty="0">
                          <a:solidFill>
                            <a:srgbClr val="000000"/>
                          </a:solidFill>
                          <a:effectLst/>
                          <a:latin typeface="Arial" panose="020B0604020202020204" pitchFamily="34" charset="0"/>
                        </a:rPr>
                        <a:t>Grand Total</a:t>
                      </a:r>
                    </a:p>
                  </a:txBody>
                  <a:tcPr marL="7620" marR="7620" marT="7620" marB="0" anchor="b">
                    <a:lnL>
                      <a:noFill/>
                    </a:lnL>
                    <a:lnR>
                      <a:noFill/>
                    </a:lnR>
                    <a:lnT>
                      <a:noFill/>
                    </a:lnT>
                    <a:lnB w="6350" cap="flat" cmpd="sng" algn="ctr">
                      <a:solidFill>
                        <a:srgbClr val="8CB5F9"/>
                      </a:solidFill>
                      <a:prstDash val="solid"/>
                      <a:round/>
                      <a:headEnd type="none" w="med" len="med"/>
                      <a:tailEnd type="none" w="med" len="med"/>
                    </a:lnB>
                    <a:solidFill>
                      <a:srgbClr val="D9E7FD"/>
                    </a:solidFill>
                  </a:tcPr>
                </a:tc>
                <a:extLst>
                  <a:ext uri="{0D108BD9-81ED-4DB2-BD59-A6C34878D82A}">
                    <a16:rowId xmlns:a16="http://schemas.microsoft.com/office/drawing/2014/main" val="1268312307"/>
                  </a:ext>
                </a:extLst>
              </a:tr>
              <a:tr h="245305">
                <a:tc>
                  <a:txBody>
                    <a:bodyPr/>
                    <a:lstStyle/>
                    <a:p>
                      <a:pPr algn="l" fontAlgn="b"/>
                      <a:r>
                        <a:rPr lang="en-IN" sz="1400" b="1" i="0" u="none" strike="noStrike" dirty="0">
                          <a:solidFill>
                            <a:srgbClr val="000000"/>
                          </a:solidFill>
                          <a:effectLst/>
                          <a:latin typeface="Arial" panose="020B0604020202020204" pitchFamily="34" charset="0"/>
                        </a:rPr>
                        <a:t>1</a:t>
                      </a:r>
                    </a:p>
                  </a:txBody>
                  <a:tcPr marL="7620" marR="7620" marT="7620" marB="0" anchor="b">
                    <a:lnL>
                      <a:noFill/>
                    </a:lnL>
                    <a:lnR>
                      <a:noFill/>
                    </a:lnR>
                    <a:lnT w="6350" cap="flat" cmpd="sng" algn="ctr">
                      <a:solidFill>
                        <a:srgbClr val="8CB5F9"/>
                      </a:solidFill>
                      <a:prstDash val="solid"/>
                      <a:round/>
                      <a:headEnd type="none" w="med" len="med"/>
                      <a:tailEnd type="none" w="med" len="med"/>
                    </a:lnT>
                    <a:lnB>
                      <a:noFill/>
                    </a:lnB>
                  </a:tcPr>
                </a:tc>
                <a:tc>
                  <a:txBody>
                    <a:bodyPr/>
                    <a:lstStyle/>
                    <a:p>
                      <a:pPr algn="ctr" fontAlgn="b"/>
                      <a:r>
                        <a:rPr lang="en-IN" sz="1400" b="1" i="0" u="none" strike="noStrike" dirty="0">
                          <a:solidFill>
                            <a:srgbClr val="000000"/>
                          </a:solidFill>
                          <a:effectLst/>
                          <a:latin typeface="Arial" panose="020B0604020202020204" pitchFamily="34" charset="0"/>
                        </a:rPr>
                        <a:t>1</a:t>
                      </a:r>
                    </a:p>
                  </a:txBody>
                  <a:tcPr marL="7620" marR="7620" marT="7620" marB="0" anchor="b">
                    <a:lnL>
                      <a:noFill/>
                    </a:lnL>
                    <a:lnR>
                      <a:noFill/>
                    </a:lnR>
                    <a:lnT w="6350" cap="flat" cmpd="sng" algn="ctr">
                      <a:solidFill>
                        <a:srgbClr val="8CB5F9"/>
                      </a:solidFill>
                      <a:prstDash val="solid"/>
                      <a:round/>
                      <a:headEnd type="none" w="med" len="med"/>
                      <a:tailEnd type="none" w="med" len="med"/>
                    </a:lnT>
                    <a:lnB>
                      <a:noFill/>
                    </a:lnB>
                  </a:tcPr>
                </a:tc>
                <a:tc>
                  <a:txBody>
                    <a:bodyPr/>
                    <a:lstStyle/>
                    <a:p>
                      <a:pPr algn="ctr" fontAlgn="b"/>
                      <a:r>
                        <a:rPr lang="en-IN" sz="1400" b="1" i="0" u="none" strike="noStrike">
                          <a:solidFill>
                            <a:srgbClr val="000000"/>
                          </a:solidFill>
                          <a:effectLst/>
                          <a:latin typeface="Arial" panose="020B0604020202020204" pitchFamily="34" charset="0"/>
                        </a:rPr>
                        <a:t>12</a:t>
                      </a:r>
                    </a:p>
                  </a:txBody>
                  <a:tcPr marL="7620" marR="7620" marT="7620" marB="0" anchor="b">
                    <a:lnL>
                      <a:noFill/>
                    </a:lnL>
                    <a:lnR>
                      <a:noFill/>
                    </a:lnR>
                    <a:lnT w="6350" cap="flat" cmpd="sng" algn="ctr">
                      <a:solidFill>
                        <a:srgbClr val="8CB5F9"/>
                      </a:solidFill>
                      <a:prstDash val="solid"/>
                      <a:round/>
                      <a:headEnd type="none" w="med" len="med"/>
                      <a:tailEnd type="none" w="med" len="med"/>
                    </a:lnT>
                    <a:lnB>
                      <a:noFill/>
                    </a:lnB>
                  </a:tcPr>
                </a:tc>
                <a:tc>
                  <a:txBody>
                    <a:bodyPr/>
                    <a:lstStyle/>
                    <a:p>
                      <a:pPr algn="r" fontAlgn="b"/>
                      <a:r>
                        <a:rPr lang="en-IN" sz="1400" b="1" i="0" u="none" strike="noStrike" dirty="0">
                          <a:solidFill>
                            <a:srgbClr val="000000"/>
                          </a:solidFill>
                          <a:effectLst/>
                          <a:latin typeface="Arial" panose="020B0604020202020204" pitchFamily="34" charset="0"/>
                        </a:rPr>
                        <a:t>13</a:t>
                      </a:r>
                    </a:p>
                  </a:txBody>
                  <a:tcPr marL="7620" marR="7620" marT="7620" marB="0" anchor="b">
                    <a:lnL>
                      <a:noFill/>
                    </a:lnL>
                    <a:lnR>
                      <a:noFill/>
                    </a:lnR>
                    <a:lnT w="6350" cap="flat" cmpd="sng" algn="ctr">
                      <a:solidFill>
                        <a:srgbClr val="8CB5F9"/>
                      </a:solidFill>
                      <a:prstDash val="solid"/>
                      <a:round/>
                      <a:headEnd type="none" w="med" len="med"/>
                      <a:tailEnd type="none" w="med" len="med"/>
                    </a:lnT>
                    <a:lnB>
                      <a:noFill/>
                    </a:lnB>
                  </a:tcPr>
                </a:tc>
                <a:extLst>
                  <a:ext uri="{0D108BD9-81ED-4DB2-BD59-A6C34878D82A}">
                    <a16:rowId xmlns:a16="http://schemas.microsoft.com/office/drawing/2014/main" val="506602588"/>
                  </a:ext>
                </a:extLst>
              </a:tr>
              <a:tr h="245305">
                <a:tc>
                  <a:txBody>
                    <a:bodyPr/>
                    <a:lstStyle/>
                    <a:p>
                      <a:pPr algn="l" fontAlgn="b"/>
                      <a:r>
                        <a:rPr lang="en-IN" sz="1400" b="1" i="0" u="none" strike="noStrike" dirty="0">
                          <a:solidFill>
                            <a:srgbClr val="000000"/>
                          </a:solidFill>
                          <a:effectLst/>
                          <a:latin typeface="Arial" panose="020B0604020202020204" pitchFamily="34" charset="0"/>
                        </a:rPr>
                        <a:t>2</a:t>
                      </a:r>
                    </a:p>
                  </a:txBody>
                  <a:tcPr marL="7620" marR="7620" marT="7620" marB="0" anchor="b">
                    <a:lnL>
                      <a:noFill/>
                    </a:lnL>
                    <a:lnR>
                      <a:noFill/>
                    </a:lnR>
                    <a:lnT>
                      <a:noFill/>
                    </a:lnT>
                    <a:lnB>
                      <a:noFill/>
                    </a:lnB>
                    <a:solidFill>
                      <a:srgbClr val="D9E7FD"/>
                    </a:solidFill>
                  </a:tcPr>
                </a:tc>
                <a:tc>
                  <a:txBody>
                    <a:bodyPr/>
                    <a:lstStyle/>
                    <a:p>
                      <a:pPr algn="ctr" fontAlgn="b"/>
                      <a:r>
                        <a:rPr lang="en-IN" sz="1400" b="1" i="0" u="none" strike="noStrike" dirty="0">
                          <a:solidFill>
                            <a:srgbClr val="000000"/>
                          </a:solidFill>
                          <a:effectLst/>
                          <a:latin typeface="Arial" panose="020B0604020202020204" pitchFamily="34" charset="0"/>
                        </a:rPr>
                        <a:t>14</a:t>
                      </a:r>
                    </a:p>
                  </a:txBody>
                  <a:tcPr marL="7620" marR="7620" marT="7620" marB="0" anchor="b">
                    <a:lnL>
                      <a:noFill/>
                    </a:lnL>
                    <a:lnR>
                      <a:noFill/>
                    </a:lnR>
                    <a:lnT>
                      <a:noFill/>
                    </a:lnT>
                    <a:lnB>
                      <a:noFill/>
                    </a:lnB>
                    <a:solidFill>
                      <a:srgbClr val="D9E7FD"/>
                    </a:solidFill>
                  </a:tcPr>
                </a:tc>
                <a:tc>
                  <a:txBody>
                    <a:bodyPr/>
                    <a:lstStyle/>
                    <a:p>
                      <a:pPr algn="ctr" fontAlgn="b"/>
                      <a:r>
                        <a:rPr lang="en-IN" sz="1400" b="1" i="0" u="none" strike="noStrike" dirty="0">
                          <a:solidFill>
                            <a:srgbClr val="000000"/>
                          </a:solidFill>
                          <a:effectLst/>
                          <a:latin typeface="Arial" panose="020B0604020202020204" pitchFamily="34" charset="0"/>
                        </a:rPr>
                        <a:t>124</a:t>
                      </a:r>
                    </a:p>
                  </a:txBody>
                  <a:tcPr marL="7620" marR="7620" marT="7620" marB="0" anchor="b">
                    <a:lnL>
                      <a:noFill/>
                    </a:lnL>
                    <a:lnR>
                      <a:noFill/>
                    </a:lnR>
                    <a:lnT>
                      <a:noFill/>
                    </a:lnT>
                    <a:lnB>
                      <a:noFill/>
                    </a:lnB>
                    <a:solidFill>
                      <a:srgbClr val="D9E7FD"/>
                    </a:solidFill>
                  </a:tcPr>
                </a:tc>
                <a:tc>
                  <a:txBody>
                    <a:bodyPr/>
                    <a:lstStyle/>
                    <a:p>
                      <a:pPr algn="r" fontAlgn="b"/>
                      <a:r>
                        <a:rPr lang="en-IN" sz="1400" b="1" i="0" u="none" strike="noStrike" dirty="0">
                          <a:solidFill>
                            <a:srgbClr val="000000"/>
                          </a:solidFill>
                          <a:effectLst/>
                          <a:latin typeface="Arial" panose="020B0604020202020204" pitchFamily="34" charset="0"/>
                        </a:rPr>
                        <a:t>138</a:t>
                      </a:r>
                    </a:p>
                  </a:txBody>
                  <a:tcPr marL="7620" marR="7620" marT="7620" marB="0" anchor="b">
                    <a:lnL>
                      <a:noFill/>
                    </a:lnL>
                    <a:lnR>
                      <a:noFill/>
                    </a:lnR>
                    <a:lnT>
                      <a:noFill/>
                    </a:lnT>
                    <a:lnB>
                      <a:noFill/>
                    </a:lnB>
                    <a:solidFill>
                      <a:srgbClr val="D9E7FD"/>
                    </a:solidFill>
                  </a:tcPr>
                </a:tc>
                <a:extLst>
                  <a:ext uri="{0D108BD9-81ED-4DB2-BD59-A6C34878D82A}">
                    <a16:rowId xmlns:a16="http://schemas.microsoft.com/office/drawing/2014/main" val="510561106"/>
                  </a:ext>
                </a:extLst>
              </a:tr>
              <a:tr h="245305">
                <a:tc>
                  <a:txBody>
                    <a:bodyPr/>
                    <a:lstStyle/>
                    <a:p>
                      <a:pPr algn="l" fontAlgn="b"/>
                      <a:r>
                        <a:rPr lang="en-IN" sz="1400" b="1" i="0" u="none" strike="noStrike" dirty="0">
                          <a:solidFill>
                            <a:srgbClr val="000000"/>
                          </a:solidFill>
                          <a:effectLst/>
                          <a:latin typeface="Arial" panose="020B0604020202020204" pitchFamily="34" charset="0"/>
                        </a:rPr>
                        <a:t>3</a:t>
                      </a:r>
                    </a:p>
                  </a:txBody>
                  <a:tcPr marL="7620" marR="7620" marT="7620" marB="0" anchor="b">
                    <a:lnL>
                      <a:noFill/>
                    </a:lnL>
                    <a:lnR>
                      <a:noFill/>
                    </a:lnR>
                    <a:lnT>
                      <a:noFill/>
                    </a:lnT>
                    <a:lnB w="6350" cap="flat" cmpd="sng" algn="ctr">
                      <a:solidFill>
                        <a:srgbClr val="8CB5F9"/>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Arial" panose="020B0604020202020204" pitchFamily="34" charset="0"/>
                        </a:rPr>
                        <a:t>6</a:t>
                      </a:r>
                    </a:p>
                  </a:txBody>
                  <a:tcPr marL="7620" marR="7620" marT="7620" marB="0" anchor="b">
                    <a:lnL>
                      <a:noFill/>
                    </a:lnL>
                    <a:lnR>
                      <a:noFill/>
                    </a:lnR>
                    <a:lnT>
                      <a:noFill/>
                    </a:lnT>
                    <a:lnB w="6350" cap="flat" cmpd="sng" algn="ctr">
                      <a:solidFill>
                        <a:srgbClr val="8CB5F9"/>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Arial" panose="020B0604020202020204" pitchFamily="34" charset="0"/>
                        </a:rPr>
                        <a:t>48</a:t>
                      </a:r>
                    </a:p>
                  </a:txBody>
                  <a:tcPr marL="7620" marR="7620" marT="7620" marB="0" anchor="b">
                    <a:lnL>
                      <a:noFill/>
                    </a:lnL>
                    <a:lnR>
                      <a:noFill/>
                    </a:lnR>
                    <a:lnT>
                      <a:noFill/>
                    </a:lnT>
                    <a:lnB w="6350" cap="flat" cmpd="sng" algn="ctr">
                      <a:solidFill>
                        <a:srgbClr val="8CB5F9"/>
                      </a:solidFill>
                      <a:prstDash val="solid"/>
                      <a:round/>
                      <a:headEnd type="none" w="med" len="med"/>
                      <a:tailEnd type="none" w="med" len="med"/>
                    </a:lnB>
                  </a:tcPr>
                </a:tc>
                <a:tc>
                  <a:txBody>
                    <a:bodyPr/>
                    <a:lstStyle/>
                    <a:p>
                      <a:pPr algn="r" fontAlgn="b"/>
                      <a:r>
                        <a:rPr lang="en-IN" sz="1400" b="1" i="0" u="none" strike="noStrike" dirty="0">
                          <a:solidFill>
                            <a:srgbClr val="000000"/>
                          </a:solidFill>
                          <a:effectLst/>
                          <a:latin typeface="Arial" panose="020B0604020202020204" pitchFamily="34" charset="0"/>
                        </a:rPr>
                        <a:t>54</a:t>
                      </a:r>
                    </a:p>
                  </a:txBody>
                  <a:tcPr marL="7620" marR="7620" marT="7620" marB="0" anchor="b">
                    <a:lnL>
                      <a:noFill/>
                    </a:lnL>
                    <a:lnR>
                      <a:noFill/>
                    </a:lnR>
                    <a:lnT>
                      <a:noFill/>
                    </a:lnT>
                    <a:lnB w="6350" cap="flat" cmpd="sng" algn="ctr">
                      <a:solidFill>
                        <a:srgbClr val="8CB5F9"/>
                      </a:solidFill>
                      <a:prstDash val="solid"/>
                      <a:round/>
                      <a:headEnd type="none" w="med" len="med"/>
                      <a:tailEnd type="none" w="med" len="med"/>
                    </a:lnB>
                  </a:tcPr>
                </a:tc>
                <a:extLst>
                  <a:ext uri="{0D108BD9-81ED-4DB2-BD59-A6C34878D82A}">
                    <a16:rowId xmlns:a16="http://schemas.microsoft.com/office/drawing/2014/main" val="755633854"/>
                  </a:ext>
                </a:extLst>
              </a:tr>
              <a:tr h="245305">
                <a:tc>
                  <a:txBody>
                    <a:bodyPr/>
                    <a:lstStyle/>
                    <a:p>
                      <a:pPr algn="l" fontAlgn="b"/>
                      <a:r>
                        <a:rPr lang="en-IN" sz="1400" b="1" i="0" u="none" strike="noStrike" dirty="0">
                          <a:solidFill>
                            <a:srgbClr val="000000"/>
                          </a:solidFill>
                          <a:effectLst/>
                          <a:latin typeface="Arial" panose="020B0604020202020204" pitchFamily="34" charset="0"/>
                        </a:rPr>
                        <a:t>Grand Total</a:t>
                      </a:r>
                    </a:p>
                  </a:txBody>
                  <a:tcPr marL="7620" marR="7620" marT="7620" marB="0" anchor="b">
                    <a:lnL>
                      <a:noFill/>
                    </a:lnL>
                    <a:lnR>
                      <a:noFill/>
                    </a:lnR>
                    <a:lnT w="6350" cap="flat" cmpd="sng" algn="ctr">
                      <a:solidFill>
                        <a:srgbClr val="8CB5F9"/>
                      </a:solidFill>
                      <a:prstDash val="solid"/>
                      <a:round/>
                      <a:headEnd type="none" w="med" len="med"/>
                      <a:tailEnd type="none" w="med" len="med"/>
                    </a:lnT>
                    <a:lnB>
                      <a:noFill/>
                    </a:lnB>
                    <a:solidFill>
                      <a:srgbClr val="D9E7FD"/>
                    </a:solidFill>
                  </a:tcPr>
                </a:tc>
                <a:tc>
                  <a:txBody>
                    <a:bodyPr/>
                    <a:lstStyle/>
                    <a:p>
                      <a:pPr algn="ctr" fontAlgn="b"/>
                      <a:r>
                        <a:rPr lang="en-IN" sz="1400" b="1" i="0" u="none" strike="noStrike" dirty="0">
                          <a:solidFill>
                            <a:srgbClr val="000000"/>
                          </a:solidFill>
                          <a:effectLst/>
                          <a:latin typeface="Arial" panose="020B0604020202020204" pitchFamily="34" charset="0"/>
                        </a:rPr>
                        <a:t>21</a:t>
                      </a:r>
                    </a:p>
                  </a:txBody>
                  <a:tcPr marL="7620" marR="7620" marT="7620" marB="0" anchor="b">
                    <a:lnL>
                      <a:noFill/>
                    </a:lnL>
                    <a:lnR>
                      <a:noFill/>
                    </a:lnR>
                    <a:lnT w="6350" cap="flat" cmpd="sng" algn="ctr">
                      <a:solidFill>
                        <a:srgbClr val="8CB5F9"/>
                      </a:solidFill>
                      <a:prstDash val="solid"/>
                      <a:round/>
                      <a:headEnd type="none" w="med" len="med"/>
                      <a:tailEnd type="none" w="med" len="med"/>
                    </a:lnT>
                    <a:lnB>
                      <a:noFill/>
                    </a:lnB>
                    <a:solidFill>
                      <a:srgbClr val="D9E7FD"/>
                    </a:solidFill>
                  </a:tcPr>
                </a:tc>
                <a:tc>
                  <a:txBody>
                    <a:bodyPr/>
                    <a:lstStyle/>
                    <a:p>
                      <a:pPr algn="ctr" fontAlgn="b"/>
                      <a:r>
                        <a:rPr lang="en-IN" sz="1400" b="1" i="0" u="none" strike="noStrike" dirty="0">
                          <a:solidFill>
                            <a:srgbClr val="000000"/>
                          </a:solidFill>
                          <a:effectLst/>
                          <a:latin typeface="Arial" panose="020B0604020202020204" pitchFamily="34" charset="0"/>
                        </a:rPr>
                        <a:t>184</a:t>
                      </a:r>
                    </a:p>
                  </a:txBody>
                  <a:tcPr marL="7620" marR="7620" marT="7620" marB="0" anchor="b">
                    <a:lnL>
                      <a:noFill/>
                    </a:lnL>
                    <a:lnR>
                      <a:noFill/>
                    </a:lnR>
                    <a:lnT w="6350" cap="flat" cmpd="sng" algn="ctr">
                      <a:solidFill>
                        <a:srgbClr val="8CB5F9"/>
                      </a:solidFill>
                      <a:prstDash val="solid"/>
                      <a:round/>
                      <a:headEnd type="none" w="med" len="med"/>
                      <a:tailEnd type="none" w="med" len="med"/>
                    </a:lnT>
                    <a:lnB>
                      <a:noFill/>
                    </a:lnB>
                    <a:solidFill>
                      <a:srgbClr val="D9E7FD"/>
                    </a:solidFill>
                  </a:tcPr>
                </a:tc>
                <a:tc>
                  <a:txBody>
                    <a:bodyPr/>
                    <a:lstStyle/>
                    <a:p>
                      <a:pPr algn="r" fontAlgn="b"/>
                      <a:r>
                        <a:rPr lang="en-IN" sz="1400" b="1" i="0" u="none" strike="noStrike" dirty="0">
                          <a:solidFill>
                            <a:srgbClr val="000000"/>
                          </a:solidFill>
                          <a:effectLst/>
                          <a:latin typeface="Arial" panose="020B0604020202020204" pitchFamily="34" charset="0"/>
                        </a:rPr>
                        <a:t>205</a:t>
                      </a:r>
                    </a:p>
                  </a:txBody>
                  <a:tcPr marL="7620" marR="7620" marT="7620" marB="0" anchor="b">
                    <a:lnL>
                      <a:noFill/>
                    </a:lnL>
                    <a:lnR>
                      <a:noFill/>
                    </a:lnR>
                    <a:lnT w="6350" cap="flat" cmpd="sng" algn="ctr">
                      <a:solidFill>
                        <a:srgbClr val="8CB5F9"/>
                      </a:solidFill>
                      <a:prstDash val="solid"/>
                      <a:round/>
                      <a:headEnd type="none" w="med" len="med"/>
                      <a:tailEnd type="none" w="med" len="med"/>
                    </a:lnT>
                    <a:lnB>
                      <a:noFill/>
                    </a:lnB>
                    <a:solidFill>
                      <a:srgbClr val="D9E7FD"/>
                    </a:solidFill>
                  </a:tcPr>
                </a:tc>
                <a:extLst>
                  <a:ext uri="{0D108BD9-81ED-4DB2-BD59-A6C34878D82A}">
                    <a16:rowId xmlns:a16="http://schemas.microsoft.com/office/drawing/2014/main" val="721684906"/>
                  </a:ext>
                </a:extLst>
              </a:tr>
            </a:tbl>
          </a:graphicData>
        </a:graphic>
      </p:graphicFrame>
    </p:spTree>
    <p:extLst>
      <p:ext uri="{BB962C8B-B14F-4D97-AF65-F5344CB8AC3E}">
        <p14:creationId xmlns:p14="http://schemas.microsoft.com/office/powerpoint/2010/main" val="25217696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D1F37B1B-738B-4041-9980-03CFAEEC5E34}"/>
              </a:ext>
            </a:extLst>
          </p:cNvPr>
          <p:cNvSpPr/>
          <p:nvPr/>
        </p:nvSpPr>
        <p:spPr>
          <a:xfrm>
            <a:off x="5688624" y="1516674"/>
            <a:ext cx="3094892" cy="2198077"/>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b" latinLnBrk="0" hangingPunct="1">
              <a:lnSpc>
                <a:spcPct val="100000"/>
              </a:lnSpc>
              <a:spcBef>
                <a:spcPts val="0"/>
              </a:spcBef>
              <a:spcAft>
                <a:spcPts val="0"/>
              </a:spcAft>
              <a:buClrTx/>
              <a:buSzTx/>
              <a:buFontTx/>
              <a:buNone/>
              <a:tabLst/>
              <a:defRPr/>
            </a:pPr>
            <a:r>
              <a:rPr lang="en-US" sz="1600" b="1" noProof="0" dirty="0">
                <a:solidFill>
                  <a:srgbClr val="A53010"/>
                </a:solidFill>
                <a:latin typeface="Arial" panose="020B0604020202020204" pitchFamily="34" charset="0"/>
              </a:rPr>
              <a:t>T</a:t>
            </a:r>
            <a:r>
              <a:rPr kumimoji="0" lang="en-US" sz="1600" b="1" i="0" u="none" strike="noStrike" kern="1200" cap="none" spc="0" normalizeH="0" baseline="0" noProof="0" dirty="0">
                <a:ln>
                  <a:noFill/>
                </a:ln>
                <a:solidFill>
                  <a:srgbClr val="A53010"/>
                </a:solidFill>
                <a:effectLst/>
                <a:uLnTx/>
                <a:uFillTx/>
                <a:latin typeface="Arial" panose="020B0604020202020204" pitchFamily="34" charset="0"/>
                <a:ea typeface="+mn-ea"/>
                <a:cs typeface="+mn-cs"/>
              </a:rPr>
              <a:t>here is significant difference between the average number </a:t>
            </a:r>
            <a:r>
              <a:rPr lang="en-US" sz="1600" b="1" dirty="0">
                <a:solidFill>
                  <a:srgbClr val="A53010"/>
                </a:solidFill>
                <a:latin typeface="Arial" panose="020B0604020202020204" pitchFamily="34" charset="0"/>
              </a:rPr>
              <a:t>o</a:t>
            </a:r>
            <a:r>
              <a:rPr kumimoji="0" lang="en-US" sz="1600" b="1" i="0" u="none" strike="noStrike" kern="1200" cap="none" spc="0" normalizeH="0" baseline="0" noProof="0" dirty="0">
                <a:ln>
                  <a:noFill/>
                </a:ln>
                <a:solidFill>
                  <a:srgbClr val="A53010"/>
                </a:solidFill>
                <a:effectLst/>
                <a:uLnTx/>
                <a:uFillTx/>
                <a:latin typeface="Arial" panose="020B0604020202020204" pitchFamily="34" charset="0"/>
                <a:ea typeface="+mn-ea"/>
                <a:cs typeface="+mn-cs"/>
              </a:rPr>
              <a:t>f hours spent on mobile phone during</a:t>
            </a:r>
            <a:r>
              <a:rPr kumimoji="0" lang="en-US" sz="1600" b="1" i="0" u="none" strike="noStrike" kern="1200" cap="none" spc="0" normalizeH="0" noProof="0" dirty="0">
                <a:ln>
                  <a:noFill/>
                </a:ln>
                <a:solidFill>
                  <a:srgbClr val="A53010"/>
                </a:solidFill>
                <a:effectLst/>
                <a:uLnTx/>
                <a:uFillTx/>
                <a:latin typeface="Arial" panose="020B0604020202020204" pitchFamily="34" charset="0"/>
                <a:ea typeface="+mn-ea"/>
                <a:cs typeface="+mn-cs"/>
              </a:rPr>
              <a:t> lockdown and post-lockdown.</a:t>
            </a:r>
            <a:endParaRPr kumimoji="0" lang="en-US" sz="1600" b="1" i="0" u="none" strike="noStrike" kern="1200" cap="none" spc="0" normalizeH="0" baseline="0" noProof="0" dirty="0">
              <a:ln>
                <a:noFill/>
              </a:ln>
              <a:solidFill>
                <a:srgbClr val="A53010"/>
              </a:solidFill>
              <a:effectLst/>
              <a:uLnTx/>
              <a:uFillTx/>
              <a:latin typeface="Arial" panose="020B0604020202020204" pitchFamily="34" charset="0"/>
              <a:ea typeface="+mn-ea"/>
              <a:cs typeface="+mn-cs"/>
            </a:endParaRPr>
          </a:p>
        </p:txBody>
      </p:sp>
      <p:sp>
        <p:nvSpPr>
          <p:cNvPr id="7" name="Oval 6">
            <a:extLst>
              <a:ext uri="{FF2B5EF4-FFF2-40B4-BE49-F238E27FC236}">
                <a16:creationId xmlns:a16="http://schemas.microsoft.com/office/drawing/2014/main" id="{7E97BD77-2A49-44A4-BA3E-929536A6BC50}"/>
              </a:ext>
            </a:extLst>
          </p:cNvPr>
          <p:cNvSpPr/>
          <p:nvPr/>
        </p:nvSpPr>
        <p:spPr>
          <a:xfrm>
            <a:off x="8994531" y="193432"/>
            <a:ext cx="2980592" cy="2294792"/>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Students spent more number </a:t>
            </a:r>
            <a:r>
              <a:rPr lang="en-US" b="1" dirty="0">
                <a:solidFill>
                  <a:srgbClr val="000000"/>
                </a:solidFill>
                <a:latin typeface="Arial" panose="020B0604020202020204" pitchFamily="34" charset="0"/>
              </a:rPr>
              <a:t>o</a:t>
            </a:r>
            <a:r>
              <a:rPr kumimoji="0" 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f hours in online lectures then in offline lectures.</a:t>
            </a:r>
            <a:endParaRPr lang="en-IN" dirty="0"/>
          </a:p>
        </p:txBody>
      </p:sp>
      <p:sp>
        <p:nvSpPr>
          <p:cNvPr id="10" name="Oval 9">
            <a:extLst>
              <a:ext uri="{FF2B5EF4-FFF2-40B4-BE49-F238E27FC236}">
                <a16:creationId xmlns:a16="http://schemas.microsoft.com/office/drawing/2014/main" id="{1324B2CB-4D12-4D64-A22A-EB83ABAEF5ED}"/>
              </a:ext>
            </a:extLst>
          </p:cNvPr>
          <p:cNvSpPr/>
          <p:nvPr/>
        </p:nvSpPr>
        <p:spPr>
          <a:xfrm>
            <a:off x="9117623" y="2963006"/>
            <a:ext cx="2980592" cy="2395905"/>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accent2">
                    <a:lumMod val="75000"/>
                  </a:schemeClr>
                </a:solidFill>
              </a:rPr>
              <a:t>People also agree that using smartphone more than needed is not a good thing. </a:t>
            </a:r>
          </a:p>
        </p:txBody>
      </p:sp>
      <p:sp>
        <p:nvSpPr>
          <p:cNvPr id="11" name="Oval 10">
            <a:extLst>
              <a:ext uri="{FF2B5EF4-FFF2-40B4-BE49-F238E27FC236}">
                <a16:creationId xmlns:a16="http://schemas.microsoft.com/office/drawing/2014/main" id="{438E3B29-5072-4A0A-8079-9D1DB211B960}"/>
              </a:ext>
            </a:extLst>
          </p:cNvPr>
          <p:cNvSpPr/>
          <p:nvPr/>
        </p:nvSpPr>
        <p:spPr>
          <a:xfrm>
            <a:off x="2699238" y="4360985"/>
            <a:ext cx="2875085" cy="2285999"/>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Number of hours has also reduced since the lockdown has lifted .</a:t>
            </a:r>
          </a:p>
        </p:txBody>
      </p:sp>
      <p:sp>
        <p:nvSpPr>
          <p:cNvPr id="12" name="Rectangle 11">
            <a:extLst>
              <a:ext uri="{FF2B5EF4-FFF2-40B4-BE49-F238E27FC236}">
                <a16:creationId xmlns:a16="http://schemas.microsoft.com/office/drawing/2014/main" id="{D14DBAAE-D47D-4E21-832B-26ED7A69FB1A}"/>
              </a:ext>
            </a:extLst>
          </p:cNvPr>
          <p:cNvSpPr/>
          <p:nvPr/>
        </p:nvSpPr>
        <p:spPr>
          <a:xfrm>
            <a:off x="1688123" y="211016"/>
            <a:ext cx="5257800" cy="62425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rgbClr val="7030A0"/>
                </a:solidFill>
              </a:rPr>
              <a:t>Conclusions:-</a:t>
            </a:r>
          </a:p>
        </p:txBody>
      </p:sp>
      <p:sp>
        <p:nvSpPr>
          <p:cNvPr id="2" name="Oval 1">
            <a:extLst>
              <a:ext uri="{FF2B5EF4-FFF2-40B4-BE49-F238E27FC236}">
                <a16:creationId xmlns:a16="http://schemas.microsoft.com/office/drawing/2014/main" id="{E17028C5-9E5E-4529-9684-CF946146A166}"/>
              </a:ext>
            </a:extLst>
          </p:cNvPr>
          <p:cNvSpPr/>
          <p:nvPr/>
        </p:nvSpPr>
        <p:spPr>
          <a:xfrm>
            <a:off x="6242538" y="4171949"/>
            <a:ext cx="2875085" cy="2387113"/>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i="0" u="none" strike="noStrike" dirty="0">
                <a:solidFill>
                  <a:srgbClr val="002060"/>
                </a:solidFill>
                <a:effectLst/>
                <a:latin typeface="Arial" panose="020B0604020202020204" pitchFamily="34" charset="0"/>
              </a:rPr>
              <a:t> There is no association between age and the frequency with which they use the internet</a:t>
            </a:r>
            <a:r>
              <a:rPr lang="en-US" sz="1800" b="1" i="0" u="none" strike="noStrike" dirty="0">
                <a:solidFill>
                  <a:schemeClr val="accent2">
                    <a:lumMod val="75000"/>
                  </a:schemeClr>
                </a:solidFill>
                <a:effectLst/>
                <a:latin typeface="Arial" panose="020B0604020202020204" pitchFamily="34" charset="0"/>
              </a:rPr>
              <a:t>.</a:t>
            </a:r>
          </a:p>
          <a:p>
            <a:pPr algn="ctr"/>
            <a:endParaRPr lang="en-IN" dirty="0"/>
          </a:p>
        </p:txBody>
      </p:sp>
    </p:spTree>
    <p:extLst>
      <p:ext uri="{BB962C8B-B14F-4D97-AF65-F5344CB8AC3E}">
        <p14:creationId xmlns:p14="http://schemas.microsoft.com/office/powerpoint/2010/main" val="21189391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55B42A-2BEA-4024-ADEA-3BC91C06E094}"/>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0" y="518746"/>
            <a:ext cx="12192000" cy="5723792"/>
          </a:xfrm>
          <a:prstGeom prst="rect">
            <a:avLst/>
          </a:prstGeom>
        </p:spPr>
      </p:pic>
    </p:spTree>
    <p:extLst>
      <p:ext uri="{BB962C8B-B14F-4D97-AF65-F5344CB8AC3E}">
        <p14:creationId xmlns:p14="http://schemas.microsoft.com/office/powerpoint/2010/main" val="2860024862"/>
      </p:ext>
    </p:extLst>
  </p:cSld>
  <p:clrMapOvr>
    <a:masterClrMapping/>
  </p:clrMapOvr>
  <p:transition spd="slow">
    <p:push dir="u"/>
  </p:transition>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374</TotalTime>
  <Words>919</Words>
  <Application>Microsoft Office PowerPoint</Application>
  <PresentationFormat>Widescreen</PresentationFormat>
  <Paragraphs>179</Paragraphs>
  <Slides>14</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Arial</vt:lpstr>
      <vt:lpstr>Arial</vt:lpstr>
      <vt:lpstr>Arial Black</vt:lpstr>
      <vt:lpstr>Bahnschrift SemiBold Condensed</vt:lpstr>
      <vt:lpstr>Berlin Sans FB</vt:lpstr>
      <vt:lpstr>Berlin Sans FB Demi</vt:lpstr>
      <vt:lpstr>Calibri</vt:lpstr>
      <vt:lpstr>Century Gothic</vt:lpstr>
      <vt:lpstr>Wingdings</vt:lpstr>
      <vt:lpstr>Wingdings 3</vt:lpstr>
      <vt:lpstr>Wisp</vt:lpstr>
      <vt:lpstr>PowerPoint Presentation</vt:lpstr>
      <vt:lpstr>Comparative study of smartphone usage during lockdown and post-lockdown.</vt:lpstr>
      <vt:lpstr>PowerPoint Presentation</vt:lpstr>
      <vt:lpstr>PowerPoint Presentation</vt:lpstr>
      <vt:lpstr>PowerPoint Presentation</vt:lpstr>
      <vt:lpstr>ANALYSIS OF DATA</vt:lpstr>
      <vt:lpstr>PowerPoint Presentation</vt:lpstr>
      <vt:lpstr>PowerPoint Presentation</vt:lpstr>
      <vt:lpstr>PowerPoint Presentation</vt:lpstr>
      <vt:lpstr>TO STUDY SIGNIFICANCE DIFFERENCE BETWEEN AVERAGE NUMBER OF HOURS SPENT ON MOBILE PHONE DURING LOCKDOWN AND POST-LOCKDOWN.                 Ho: There is no significant difference between the average number of hours spent on mobile phone during lockdown and post-lockdown. H1: Not Ho.</vt:lpstr>
      <vt:lpstr>TO STUDY THE DIFFERENCE BETWEEN NUMBER OF HOURS SPENT IN ONLINE LECTURES V/S IN OFFLINE LECTURES. </vt:lpstr>
      <vt:lpstr>IS THERE ANY ASSOCIATION BETWEEN AGE AND FREQUENCY WITH WHICH THEY USE THE INTERNET          Chi-square test :-      Observed frequency:-           Expected frequency:-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jyoti039sh@gmail.com</dc:creator>
  <cp:lastModifiedBy>Varsha Gupta</cp:lastModifiedBy>
  <cp:revision>29</cp:revision>
  <dcterms:created xsi:type="dcterms:W3CDTF">2022-01-20T08:58:25Z</dcterms:created>
  <dcterms:modified xsi:type="dcterms:W3CDTF">2022-01-27T09:51:22Z</dcterms:modified>
</cp:coreProperties>
</file>